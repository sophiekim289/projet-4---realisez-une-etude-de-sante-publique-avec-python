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74" r:id="rId1"/>
  </p:sldMasterIdLst>
  <p:notesMasterIdLst>
    <p:notesMasterId r:id="rId20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5" r:id="rId17"/>
    <p:sldId id="272" r:id="rId18"/>
    <p:sldId id="274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4C5B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18" autoAdjust="0"/>
    <p:restoredTop sz="94660"/>
  </p:normalViewPr>
  <p:slideViewPr>
    <p:cSldViewPr snapToGrid="0">
      <p:cViewPr>
        <p:scale>
          <a:sx n="50" d="100"/>
          <a:sy n="50" d="100"/>
        </p:scale>
        <p:origin x="-22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B5E4AE-8F30-4657-BB29-AF1EE55F7486}" type="datetimeFigureOut">
              <a:rPr lang="en-GB" smtClean="0"/>
              <a:t>22/04/2025</a:t>
            </a:fld>
            <a:endParaRPr lang="en-GB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AF4DD4-C6EA-4EEF-9BB7-FD6284E8C09F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314935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7" name="Google Shape;117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8" name="Google Shape;118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fr-FR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28" name="Google Shape;12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>
          <a:extLst>
            <a:ext uri="{FF2B5EF4-FFF2-40B4-BE49-F238E27FC236}">
              <a16:creationId xmlns:a16="http://schemas.microsoft.com/office/drawing/2014/main" id="{87D45B6B-6780-9BC5-0D93-0AAD1E8D34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:notes">
            <a:extLst>
              <a:ext uri="{FF2B5EF4-FFF2-40B4-BE49-F238E27FC236}">
                <a16:creationId xmlns:a16="http://schemas.microsoft.com/office/drawing/2014/main" id="{964394C0-FFC3-5257-E42A-14D4532E408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28" name="Google Shape;128;p2:notes">
            <a:extLst>
              <a:ext uri="{FF2B5EF4-FFF2-40B4-BE49-F238E27FC236}">
                <a16:creationId xmlns:a16="http://schemas.microsoft.com/office/drawing/2014/main" id="{0EF3819D-4BA6-75D2-E2D9-CAF90823805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1414764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>
          <a:extLst>
            <a:ext uri="{FF2B5EF4-FFF2-40B4-BE49-F238E27FC236}">
              <a16:creationId xmlns:a16="http://schemas.microsoft.com/office/drawing/2014/main" id="{EC40B47B-1CA5-6FC2-A7DB-D4B5771FAF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:notes">
            <a:extLst>
              <a:ext uri="{FF2B5EF4-FFF2-40B4-BE49-F238E27FC236}">
                <a16:creationId xmlns:a16="http://schemas.microsoft.com/office/drawing/2014/main" id="{9994ACE2-11DE-472E-D7CC-6AD50089ACB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28" name="Google Shape;128;p2:notes">
            <a:extLst>
              <a:ext uri="{FF2B5EF4-FFF2-40B4-BE49-F238E27FC236}">
                <a16:creationId xmlns:a16="http://schemas.microsoft.com/office/drawing/2014/main" id="{B6F8E6EE-74B5-9970-9019-38E6E6DB8AC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5176057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>
          <a:extLst>
            <a:ext uri="{FF2B5EF4-FFF2-40B4-BE49-F238E27FC236}">
              <a16:creationId xmlns:a16="http://schemas.microsoft.com/office/drawing/2014/main" id="{9F003547-1034-B0D1-8035-A733477E92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:notes">
            <a:extLst>
              <a:ext uri="{FF2B5EF4-FFF2-40B4-BE49-F238E27FC236}">
                <a16:creationId xmlns:a16="http://schemas.microsoft.com/office/drawing/2014/main" id="{6D299A9F-2BC1-53A6-FEF9-51F7C41ED12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28" name="Google Shape;128;p2:notes">
            <a:extLst>
              <a:ext uri="{FF2B5EF4-FFF2-40B4-BE49-F238E27FC236}">
                <a16:creationId xmlns:a16="http://schemas.microsoft.com/office/drawing/2014/main" id="{6B721879-030F-FF4E-8AE8-EC4319E6E5A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3622516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>
          <a:extLst>
            <a:ext uri="{FF2B5EF4-FFF2-40B4-BE49-F238E27FC236}">
              <a16:creationId xmlns:a16="http://schemas.microsoft.com/office/drawing/2014/main" id="{3EDE726B-DFCF-869E-0D63-CFC390F146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:notes">
            <a:extLst>
              <a:ext uri="{FF2B5EF4-FFF2-40B4-BE49-F238E27FC236}">
                <a16:creationId xmlns:a16="http://schemas.microsoft.com/office/drawing/2014/main" id="{1AA6B863-ECB6-BE0B-E9D2-71DBE6175FF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28" name="Google Shape;128;p2:notes">
            <a:extLst>
              <a:ext uri="{FF2B5EF4-FFF2-40B4-BE49-F238E27FC236}">
                <a16:creationId xmlns:a16="http://schemas.microsoft.com/office/drawing/2014/main" id="{D59B0049-2BE3-475B-3A59-BD2FCC2A774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58713293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>
          <a:extLst>
            <a:ext uri="{FF2B5EF4-FFF2-40B4-BE49-F238E27FC236}">
              <a16:creationId xmlns:a16="http://schemas.microsoft.com/office/drawing/2014/main" id="{28695096-7CD3-AC50-A105-1192ABC65B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:notes">
            <a:extLst>
              <a:ext uri="{FF2B5EF4-FFF2-40B4-BE49-F238E27FC236}">
                <a16:creationId xmlns:a16="http://schemas.microsoft.com/office/drawing/2014/main" id="{C75D6910-B30A-3B4F-95E2-612F43AA2A4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28" name="Google Shape;128;p2:notes">
            <a:extLst>
              <a:ext uri="{FF2B5EF4-FFF2-40B4-BE49-F238E27FC236}">
                <a16:creationId xmlns:a16="http://schemas.microsoft.com/office/drawing/2014/main" id="{F6F79943-3017-4AFD-EF85-9520797E440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2003467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>
          <a:extLst>
            <a:ext uri="{FF2B5EF4-FFF2-40B4-BE49-F238E27FC236}">
              <a16:creationId xmlns:a16="http://schemas.microsoft.com/office/drawing/2014/main" id="{F327D635-55C2-9D91-AC69-44D1600710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:notes">
            <a:extLst>
              <a:ext uri="{FF2B5EF4-FFF2-40B4-BE49-F238E27FC236}">
                <a16:creationId xmlns:a16="http://schemas.microsoft.com/office/drawing/2014/main" id="{D087F195-C9F5-4814-38FA-8934BD733E4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28" name="Google Shape;128;p2:notes">
            <a:extLst>
              <a:ext uri="{FF2B5EF4-FFF2-40B4-BE49-F238E27FC236}">
                <a16:creationId xmlns:a16="http://schemas.microsoft.com/office/drawing/2014/main" id="{E2995C6D-4D22-F8BB-6835-9D2BE51B2BF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25362635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>
          <a:extLst>
            <a:ext uri="{FF2B5EF4-FFF2-40B4-BE49-F238E27FC236}">
              <a16:creationId xmlns:a16="http://schemas.microsoft.com/office/drawing/2014/main" id="{4CDFC8F9-D5EF-C797-06BA-C919851A4D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:notes">
            <a:extLst>
              <a:ext uri="{FF2B5EF4-FFF2-40B4-BE49-F238E27FC236}">
                <a16:creationId xmlns:a16="http://schemas.microsoft.com/office/drawing/2014/main" id="{7CF0442D-174E-627F-7A3D-B12EB05FA36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28" name="Google Shape;128;p2:notes">
            <a:extLst>
              <a:ext uri="{FF2B5EF4-FFF2-40B4-BE49-F238E27FC236}">
                <a16:creationId xmlns:a16="http://schemas.microsoft.com/office/drawing/2014/main" id="{CB054C21-D78B-44A9-1EC1-313FF2857D3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9297705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>
          <a:extLst>
            <a:ext uri="{FF2B5EF4-FFF2-40B4-BE49-F238E27FC236}">
              <a16:creationId xmlns:a16="http://schemas.microsoft.com/office/drawing/2014/main" id="{3F88A4A1-8529-2E3A-D37C-8DE2C4EC65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:notes">
            <a:extLst>
              <a:ext uri="{FF2B5EF4-FFF2-40B4-BE49-F238E27FC236}">
                <a16:creationId xmlns:a16="http://schemas.microsoft.com/office/drawing/2014/main" id="{451412B8-0A87-66CA-E3B5-CDD46ED7AF2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28" name="Google Shape;128;p2:notes">
            <a:extLst>
              <a:ext uri="{FF2B5EF4-FFF2-40B4-BE49-F238E27FC236}">
                <a16:creationId xmlns:a16="http://schemas.microsoft.com/office/drawing/2014/main" id="{C96AAD6C-6F2D-D54F-4C95-33D55332696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90573069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>
          <a:extLst>
            <a:ext uri="{FF2B5EF4-FFF2-40B4-BE49-F238E27FC236}">
              <a16:creationId xmlns:a16="http://schemas.microsoft.com/office/drawing/2014/main" id="{19C6034F-0E31-7EA3-A122-2F24A0FD8A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:notes">
            <a:extLst>
              <a:ext uri="{FF2B5EF4-FFF2-40B4-BE49-F238E27FC236}">
                <a16:creationId xmlns:a16="http://schemas.microsoft.com/office/drawing/2014/main" id="{91909121-9C9A-551A-F054-916745D9977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28" name="Google Shape;128;p2:notes">
            <a:extLst>
              <a:ext uri="{FF2B5EF4-FFF2-40B4-BE49-F238E27FC236}">
                <a16:creationId xmlns:a16="http://schemas.microsoft.com/office/drawing/2014/main" id="{A577C925-D6A4-A1E5-3642-8B00CC4787D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68778524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>
          <a:extLst>
            <a:ext uri="{FF2B5EF4-FFF2-40B4-BE49-F238E27FC236}">
              <a16:creationId xmlns:a16="http://schemas.microsoft.com/office/drawing/2014/main" id="{55A6023D-8B9A-0CC1-3312-07DF485621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:notes">
            <a:extLst>
              <a:ext uri="{FF2B5EF4-FFF2-40B4-BE49-F238E27FC236}">
                <a16:creationId xmlns:a16="http://schemas.microsoft.com/office/drawing/2014/main" id="{9980F893-B99E-9AAF-B020-C65E878849B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28" name="Google Shape;128;p2:notes">
            <a:extLst>
              <a:ext uri="{FF2B5EF4-FFF2-40B4-BE49-F238E27FC236}">
                <a16:creationId xmlns:a16="http://schemas.microsoft.com/office/drawing/2014/main" id="{92826741-7EAD-F933-E12F-36245EF437B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26111073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>
          <a:extLst>
            <a:ext uri="{FF2B5EF4-FFF2-40B4-BE49-F238E27FC236}">
              <a16:creationId xmlns:a16="http://schemas.microsoft.com/office/drawing/2014/main" id="{970DCC51-A2A8-E373-1356-BEED0B13A6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:notes">
            <a:extLst>
              <a:ext uri="{FF2B5EF4-FFF2-40B4-BE49-F238E27FC236}">
                <a16:creationId xmlns:a16="http://schemas.microsoft.com/office/drawing/2014/main" id="{79B255D7-70F4-D18B-A625-3B6082D7E4C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28" name="Google Shape;128;p2:notes">
            <a:extLst>
              <a:ext uri="{FF2B5EF4-FFF2-40B4-BE49-F238E27FC236}">
                <a16:creationId xmlns:a16="http://schemas.microsoft.com/office/drawing/2014/main" id="{CA45DD20-C9DE-8DF2-38A2-6E64DC354D5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12540437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>
          <a:extLst>
            <a:ext uri="{FF2B5EF4-FFF2-40B4-BE49-F238E27FC236}">
              <a16:creationId xmlns:a16="http://schemas.microsoft.com/office/drawing/2014/main" id="{FB03ED5F-377B-81B9-F3CA-2FF47430FB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:notes">
            <a:extLst>
              <a:ext uri="{FF2B5EF4-FFF2-40B4-BE49-F238E27FC236}">
                <a16:creationId xmlns:a16="http://schemas.microsoft.com/office/drawing/2014/main" id="{77F595D1-5639-F08B-3D84-30949F64205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28" name="Google Shape;128;p2:notes">
            <a:extLst>
              <a:ext uri="{FF2B5EF4-FFF2-40B4-BE49-F238E27FC236}">
                <a16:creationId xmlns:a16="http://schemas.microsoft.com/office/drawing/2014/main" id="{EE87E4C6-3D25-A797-86AF-755407F8A23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95433299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>
          <a:extLst>
            <a:ext uri="{FF2B5EF4-FFF2-40B4-BE49-F238E27FC236}">
              <a16:creationId xmlns:a16="http://schemas.microsoft.com/office/drawing/2014/main" id="{4807C526-288C-A818-92A7-39FBF059BA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:notes">
            <a:extLst>
              <a:ext uri="{FF2B5EF4-FFF2-40B4-BE49-F238E27FC236}">
                <a16:creationId xmlns:a16="http://schemas.microsoft.com/office/drawing/2014/main" id="{F354D8BB-AB25-7C7A-BAB8-4B155EB25B0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28" name="Google Shape;128;p2:notes">
            <a:extLst>
              <a:ext uri="{FF2B5EF4-FFF2-40B4-BE49-F238E27FC236}">
                <a16:creationId xmlns:a16="http://schemas.microsoft.com/office/drawing/2014/main" id="{A5EB43C9-65A6-345E-C0C3-B7B604BF632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75775127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>
          <a:extLst>
            <a:ext uri="{FF2B5EF4-FFF2-40B4-BE49-F238E27FC236}">
              <a16:creationId xmlns:a16="http://schemas.microsoft.com/office/drawing/2014/main" id="{A5B6D315-FC78-F526-2DE8-9F045E9302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:notes">
            <a:extLst>
              <a:ext uri="{FF2B5EF4-FFF2-40B4-BE49-F238E27FC236}">
                <a16:creationId xmlns:a16="http://schemas.microsoft.com/office/drawing/2014/main" id="{F3A67080-1BF7-35C0-9F57-6069B8590D5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28" name="Google Shape;128;p2:notes">
            <a:extLst>
              <a:ext uri="{FF2B5EF4-FFF2-40B4-BE49-F238E27FC236}">
                <a16:creationId xmlns:a16="http://schemas.microsoft.com/office/drawing/2014/main" id="{42E8BE07-5DDA-D2D3-388C-339FCB0CD69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62129298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>
          <a:extLst>
            <a:ext uri="{FF2B5EF4-FFF2-40B4-BE49-F238E27FC236}">
              <a16:creationId xmlns:a16="http://schemas.microsoft.com/office/drawing/2014/main" id="{391C5A21-EB85-3AC8-6A49-D783F6AC7C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:notes">
            <a:extLst>
              <a:ext uri="{FF2B5EF4-FFF2-40B4-BE49-F238E27FC236}">
                <a16:creationId xmlns:a16="http://schemas.microsoft.com/office/drawing/2014/main" id="{2FDA97AF-4E5D-8516-64E1-0052C93180D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28" name="Google Shape;128;p2:notes">
            <a:extLst>
              <a:ext uri="{FF2B5EF4-FFF2-40B4-BE49-F238E27FC236}">
                <a16:creationId xmlns:a16="http://schemas.microsoft.com/office/drawing/2014/main" id="{0C1F4A60-3B11-8009-E73C-A15B2430CEE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89641370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>
          <a:extLst>
            <a:ext uri="{FF2B5EF4-FFF2-40B4-BE49-F238E27FC236}">
              <a16:creationId xmlns:a16="http://schemas.microsoft.com/office/drawing/2014/main" id="{DBAF5A0D-5738-000B-2F4A-4FC3D02CC4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:notes">
            <a:extLst>
              <a:ext uri="{FF2B5EF4-FFF2-40B4-BE49-F238E27FC236}">
                <a16:creationId xmlns:a16="http://schemas.microsoft.com/office/drawing/2014/main" id="{CCA8E7DB-2CEE-A990-6404-DFB32811BB3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7" name="Google Shape;117;p1:notes">
            <a:extLst>
              <a:ext uri="{FF2B5EF4-FFF2-40B4-BE49-F238E27FC236}">
                <a16:creationId xmlns:a16="http://schemas.microsoft.com/office/drawing/2014/main" id="{D945DF25-A13C-9B1A-2752-0FECDCD2E88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8" name="Google Shape;118;p1:notes">
            <a:extLst>
              <a:ext uri="{FF2B5EF4-FFF2-40B4-BE49-F238E27FC236}">
                <a16:creationId xmlns:a16="http://schemas.microsoft.com/office/drawing/2014/main" id="{1091A542-E1E4-E6C5-6239-D198C1CF48C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fr-FR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827524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24/04/2025</a:t>
            </a:r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Projet 4 - Data Analyst - Sophie KIM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6080C-98AB-45C5-BE9B-B13311155E7A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183721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24/04/2025</a:t>
            </a:r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Projet 4 - Data Analyst - Sophie KIM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6080C-98AB-45C5-BE9B-B13311155E7A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934010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24/04/2025</a:t>
            </a:r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Projet 4 - Data Analyst - Sophie KIM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6080C-98AB-45C5-BE9B-B13311155E7A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288064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24/04/2025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Projet 4 - Data Analyst - Sophie KIM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6080C-98AB-45C5-BE9B-B13311155E7A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787191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24/04/2025</a:t>
            </a:r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Projet 4 - Data Analyst - Sophie KIM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6080C-98AB-45C5-BE9B-B13311155E7A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882061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24/04/2025</a:t>
            </a:r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Projet 4 - Data Analyst - Sophie KIM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6080C-98AB-45C5-BE9B-B13311155E7A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735477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24/04/2025</a:t>
            </a:r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Projet 4 - Data Analyst - Sophie KIM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6080C-98AB-45C5-BE9B-B13311155E7A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689885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24/04/2025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Projet 4 - Data Analyst - Sophie KIM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6080C-98AB-45C5-BE9B-B13311155E7A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660445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24/04/2025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Projet 4 - Data Analyst - Sophie KIM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6080C-98AB-45C5-BE9B-B13311155E7A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016672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panoramiqu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24/04/2025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Projet 4 - Data Analyst - Sophie KIM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6080C-98AB-45C5-BE9B-B13311155E7A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689131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24/04/2025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Projet 4 - Data Analyst - Sophie KIM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6080C-98AB-45C5-BE9B-B13311155E7A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950254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24/04/2025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Projet 4 - Data Analyst - Sophie KIM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6080C-98AB-45C5-BE9B-B13311155E7A}" type="slidenum">
              <a:rPr lang="en-GB" smtClean="0"/>
              <a:t>‹N°›</a:t>
            </a:fld>
            <a:endParaRPr lang="en-GB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2109937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24/04/2025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Projet 4 - Data Analyst - Sophie KIM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6080C-98AB-45C5-BE9B-B13311155E7A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5013065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 colon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24/04/2025</a:t>
            </a:r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Projet 4 - Data Analyst - Sophie KIM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6080C-98AB-45C5-BE9B-B13311155E7A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4420279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 colonnes d’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24/04/2025</a:t>
            </a:r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Projet 4 - Data Analyst - Sophie KIM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6080C-98AB-45C5-BE9B-B13311155E7A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7589657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24/04/2025</a:t>
            </a:r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Projet 4 - Data Analyst - Sophie KIM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6080C-98AB-45C5-BE9B-B13311155E7A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1849949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24/04/2025</a:t>
            </a:r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Projet 4 - Data Analyst - Sophie KIM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6080C-98AB-45C5-BE9B-B13311155E7A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4819514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24/04/2025</a:t>
            </a:r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Projet 4 - Data Analyst - Sophie KIM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6080C-98AB-45C5-BE9B-B13311155E7A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74129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0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/>
              <a:t>24/04/2025</a:t>
            </a:r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/>
              <a:t>Projet 4 - Data Analyst - Sophie KIM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2EC6080C-98AB-45C5-BE9B-B13311155E7A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105387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75" r:id="rId1"/>
    <p:sldLayoutId id="2147483976" r:id="rId2"/>
    <p:sldLayoutId id="2147483977" r:id="rId3"/>
    <p:sldLayoutId id="2147483978" r:id="rId4"/>
    <p:sldLayoutId id="2147483979" r:id="rId5"/>
    <p:sldLayoutId id="2147483980" r:id="rId6"/>
    <p:sldLayoutId id="2147483981" r:id="rId7"/>
    <p:sldLayoutId id="2147483982" r:id="rId8"/>
    <p:sldLayoutId id="2147483983" r:id="rId9"/>
    <p:sldLayoutId id="2147483984" r:id="rId10"/>
    <p:sldLayoutId id="2147483985" r:id="rId11"/>
    <p:sldLayoutId id="2147483986" r:id="rId12"/>
    <p:sldLayoutId id="2147483987" r:id="rId13"/>
    <p:sldLayoutId id="2147483988" r:id="rId14"/>
    <p:sldLayoutId id="2147483989" r:id="rId15"/>
    <p:sldLayoutId id="2147483990" r:id="rId16"/>
    <p:sldLayoutId id="2147483991" r:id="rId17"/>
    <p:sldLayoutId id="2147483992" r:id="rId18"/>
  </p:sldLayoutIdLst>
  <p:hf hdr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fr/users/sharijo-4588686/?utm_source=link-attribution&amp;utm_medium=referral&amp;utm_campaign=image&amp;utm_content=4762523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4.png"/><Relationship Id="rId4" Type="http://schemas.openxmlformats.org/officeDocument/2006/relationships/hyperlink" Target="https://pixabay.com/fr/?utm_source=link-attribution&amp;utm_medium=referral&amp;utm_campaign=image&amp;utm_content=4762523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hyperlink" Target="https://pixabay.com/fr/users/openclipart-vectors-30363/?utm_source=link-attribution&amp;utm_medium=referral&amp;utm_campaign=image&amp;utm_content=162233" TargetMode="External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8.xml"/><Relationship Id="rId6" Type="http://schemas.openxmlformats.org/officeDocument/2006/relationships/hyperlink" Target="https://pixabay.com/fr/?utm_source=link-attribution&amp;utm_medium=referral&amp;utm_campaign=image&amp;utm_content=1774834" TargetMode="External"/><Relationship Id="rId5" Type="http://schemas.openxmlformats.org/officeDocument/2006/relationships/hyperlink" Target="https://pixabay.com/fr/users/isakarakus-2336747/?utm_source=link-attribution&amp;utm_medium=referral&amp;utm_campaign=image&amp;utm_content=1774834" TargetMode="External"/><Relationship Id="rId4" Type="http://schemas.openxmlformats.org/officeDocument/2006/relationships/hyperlink" Target="https://pixabay.com/fr/?utm_source=link-attribution&amp;utm_medium=referral&amp;utm_campaign=image&amp;utm_content=162233" TargetMode="External"/><Relationship Id="rId9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fr/users/clker-free-vector-images-3736/?utm_source=link-attribution&amp;utm_medium=referral&amp;utm_campaign=image&amp;utm_content=37843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15.png"/><Relationship Id="rId4" Type="http://schemas.openxmlformats.org/officeDocument/2006/relationships/hyperlink" Target="https://pixabay.com/fr/?utm_source=link-attribution&amp;utm_medium=referral&amp;utm_campaign=image&amp;utm_content=37843" TargetMode="Externa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8.xml"/><Relationship Id="rId5" Type="http://schemas.openxmlformats.org/officeDocument/2006/relationships/hyperlink" Target="https://pixabay.com/fr/?utm_source=link-attribution&amp;utm_medium=referral&amp;utm_campaign=image&amp;utm_content=932745" TargetMode="External"/><Relationship Id="rId4" Type="http://schemas.openxmlformats.org/officeDocument/2006/relationships/hyperlink" Target="https://pixabay.com/fr/users/tookapic-1386459/?utm_source=link-attribution&amp;utm_medium=referral&amp;utm_campaign=image&amp;utm_content=932745" TargetMode="Externa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"/>
          <p:cNvSpPr/>
          <p:nvPr/>
        </p:nvSpPr>
        <p:spPr>
          <a:xfrm>
            <a:off x="0" y="1016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ln cmpd="sng">
                <a:solidFill>
                  <a:srgbClr val="14C5BA"/>
                </a:solidFill>
              </a:ln>
              <a:solidFill>
                <a:schemeClr val="lt1"/>
              </a:solidFill>
              <a:effectLst>
                <a:glow rad="228600">
                  <a:schemeClr val="accent2">
                    <a:satMod val="175000"/>
                    <a:alpha val="40000"/>
                  </a:schemeClr>
                </a:glow>
                <a:innerShdw dist="1968500" dir="18900000">
                  <a:prstClr val="black">
                    <a:alpha val="1000"/>
                  </a:prstClr>
                </a:innerShdw>
                <a:reflection stA="0" endPos="65000" dist="50800" dir="5400000" sy="-100000" algn="bl" rotWithShape="0"/>
              </a:effectLst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21" name="Google Shape;121;p1"/>
          <p:cNvSpPr/>
          <p:nvPr/>
        </p:nvSpPr>
        <p:spPr>
          <a:xfrm rot="-5400000">
            <a:off x="-650724" y="650724"/>
            <a:ext cx="6858000" cy="5556552"/>
          </a:xfrm>
          <a:custGeom>
            <a:avLst/>
            <a:gdLst/>
            <a:ahLst/>
            <a:cxnLst/>
            <a:rect l="l" t="t" r="r" b="b"/>
            <a:pathLst>
              <a:path w="6858000" h="5556552" extrusionOk="0">
                <a:moveTo>
                  <a:pt x="6858000" y="3445704"/>
                </a:moveTo>
                <a:lnTo>
                  <a:pt x="3829242" y="5433322"/>
                </a:lnTo>
                <a:lnTo>
                  <a:pt x="3827369" y="5434867"/>
                </a:lnTo>
                <a:lnTo>
                  <a:pt x="3824583" y="5436378"/>
                </a:lnTo>
                <a:lnTo>
                  <a:pt x="3798693" y="5453370"/>
                </a:lnTo>
                <a:lnTo>
                  <a:pt x="3785011" y="5457858"/>
                </a:lnTo>
                <a:lnTo>
                  <a:pt x="3706339" y="5500559"/>
                </a:lnTo>
                <a:cubicBezTo>
                  <a:pt x="3621096" y="5536614"/>
                  <a:pt x="3527375" y="5556552"/>
                  <a:pt x="3428998" y="5556552"/>
                </a:cubicBezTo>
                <a:cubicBezTo>
                  <a:pt x="3330621" y="5556552"/>
                  <a:pt x="3236901" y="5536614"/>
                  <a:pt x="3151658" y="5500559"/>
                </a:cubicBezTo>
                <a:lnTo>
                  <a:pt x="3072996" y="5457863"/>
                </a:lnTo>
                <a:lnTo>
                  <a:pt x="3059298" y="5453370"/>
                </a:lnTo>
                <a:lnTo>
                  <a:pt x="3033383" y="5436362"/>
                </a:lnTo>
                <a:lnTo>
                  <a:pt x="3030627" y="5434867"/>
                </a:lnTo>
                <a:lnTo>
                  <a:pt x="3028775" y="5433338"/>
                </a:lnTo>
                <a:lnTo>
                  <a:pt x="0" y="3445704"/>
                </a:lnTo>
                <a:close/>
                <a:moveTo>
                  <a:pt x="6858000" y="0"/>
                </a:moveTo>
                <a:lnTo>
                  <a:pt x="6858000" y="349336"/>
                </a:lnTo>
                <a:lnTo>
                  <a:pt x="6858000" y="3445703"/>
                </a:lnTo>
                <a:lnTo>
                  <a:pt x="0" y="3445703"/>
                </a:lnTo>
                <a:lnTo>
                  <a:pt x="0" y="0"/>
                </a:lnTo>
                <a:close/>
              </a:path>
            </a:pathLst>
          </a:custGeom>
          <a:solidFill>
            <a:srgbClr val="14C5B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1"/>
          <p:cNvSpPr txBox="1">
            <a:spLocks noGrp="1"/>
          </p:cNvSpPr>
          <p:nvPr>
            <p:ph type="subTitle" idx="1"/>
          </p:nvPr>
        </p:nvSpPr>
        <p:spPr>
          <a:xfrm>
            <a:off x="643466" y="2281574"/>
            <a:ext cx="3994015" cy="2294852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fr-FR" sz="2800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Sophie KIM</a:t>
            </a: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fr-FR" sz="1800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Data </a:t>
            </a:r>
            <a:r>
              <a:rPr lang="fr-FR" sz="1800" dirty="0" err="1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analyst</a:t>
            </a:r>
            <a:endParaRPr sz="1800" dirty="0">
              <a:solidFill>
                <a:schemeClr val="bg1"/>
              </a:solidFill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6DE04E26-282D-D97E-3E48-6D2816153EBE}"/>
              </a:ext>
            </a:extLst>
          </p:cNvPr>
          <p:cNvSpPr txBox="1"/>
          <p:nvPr/>
        </p:nvSpPr>
        <p:spPr>
          <a:xfrm>
            <a:off x="5627672" y="2120590"/>
            <a:ext cx="663544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6000" b="1" dirty="0">
                <a:solidFill>
                  <a:srgbClr val="14C5BA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Étude sur l’alimentation </a:t>
            </a:r>
          </a:p>
          <a:p>
            <a:r>
              <a:rPr lang="fr-FR" sz="6000" b="1" dirty="0">
                <a:solidFill>
                  <a:srgbClr val="14C5BA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dans le monde</a:t>
            </a:r>
            <a:endParaRPr lang="en-GB" sz="6000" b="1" dirty="0">
              <a:solidFill>
                <a:srgbClr val="14C5BA"/>
              </a:solidFill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012866BF-7F9D-4C73-48D6-59E43FDDAC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24/04/2025</a:t>
            </a:r>
            <a:endParaRPr lang="en-GB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F9B78D49-3DB1-26A0-6661-C9C365700A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 err="1">
                <a:solidFill>
                  <a:schemeClr val="bg1">
                    <a:lumMod val="50000"/>
                  </a:schemeClr>
                </a:solidFill>
              </a:rPr>
              <a:t>Projet</a:t>
            </a:r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 4 - Data Analyst - Sophie KIM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4A3FD11B-70B7-6049-5457-BF2D1F601E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6080C-98AB-45C5-BE9B-B13311155E7A}" type="slidenum">
              <a:rPr lang="en-GB" smtClean="0"/>
              <a:t>1</a:t>
            </a:fld>
            <a:endParaRPr lang="en-GB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DB40F254-B55D-AD72-89BF-FC89558AE4E3}"/>
              </a:ext>
            </a:extLst>
          </p:cNvPr>
          <p:cNvSpPr txBox="1"/>
          <p:nvPr/>
        </p:nvSpPr>
        <p:spPr>
          <a:xfrm>
            <a:off x="762000" y="477520"/>
            <a:ext cx="106984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dirty="0">
                <a:solidFill>
                  <a:srgbClr val="14C5BA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CONTEXTE ET SPECIFICATION DES DONNEES</a:t>
            </a:r>
            <a:endParaRPr lang="en-GB" sz="3200" dirty="0">
              <a:solidFill>
                <a:srgbClr val="14C5BA"/>
              </a:solidFill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63E513EA-5E58-2602-14BD-3AE328E6F87E}"/>
              </a:ext>
            </a:extLst>
          </p:cNvPr>
          <p:cNvSpPr txBox="1"/>
          <p:nvPr/>
        </p:nvSpPr>
        <p:spPr>
          <a:xfrm>
            <a:off x="894080" y="1849120"/>
            <a:ext cx="10698480" cy="3570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fr-FR" sz="2800" dirty="0">
              <a:solidFill>
                <a:srgbClr val="14C5BA"/>
              </a:solidFill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  <a:p>
            <a:pPr algn="ctr"/>
            <a:endParaRPr lang="fr-FR" sz="2800" dirty="0">
              <a:solidFill>
                <a:srgbClr val="14C5BA"/>
              </a:solidFill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  <a:p>
            <a:pPr algn="ctr"/>
            <a:endParaRPr lang="fr-FR" sz="2800" dirty="0">
              <a:solidFill>
                <a:srgbClr val="14C5BA"/>
              </a:solidFill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  <a:p>
            <a:pPr algn="ctr"/>
            <a:r>
              <a:rPr lang="fr-FR" sz="4000" b="1" i="1" dirty="0">
                <a:solidFill>
                  <a:srgbClr val="14C5BA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« Aider à construire un monde libéré de la faim »</a:t>
            </a:r>
          </a:p>
          <a:p>
            <a:pPr algn="r"/>
            <a:r>
              <a:rPr lang="fr-FR" b="1" i="1" dirty="0">
                <a:solidFill>
                  <a:srgbClr val="14C5BA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Mission de la FAO</a:t>
            </a:r>
          </a:p>
          <a:p>
            <a:pPr algn="ctr"/>
            <a:endParaRPr lang="fr-FR" sz="2800" dirty="0">
              <a:solidFill>
                <a:srgbClr val="14C5BA"/>
              </a:solidFill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  <a:p>
            <a:pPr algn="ctr"/>
            <a:endParaRPr lang="fr-FR" sz="2800" dirty="0">
              <a:solidFill>
                <a:srgbClr val="14C5BA"/>
              </a:solidFill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  <a:p>
            <a:pPr algn="ctr"/>
            <a:endParaRPr lang="en-GB" sz="2800" dirty="0">
              <a:solidFill>
                <a:srgbClr val="14C5BA"/>
              </a:solidFill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4FD541B-EA80-5398-0798-66A75B2E5B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>
                <a:solidFill>
                  <a:schemeClr val="bg1">
                    <a:lumMod val="50000"/>
                  </a:schemeClr>
                </a:solidFill>
              </a:rPr>
              <a:t>24/04/2025</a:t>
            </a:r>
            <a:endParaRPr lang="en-GB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8C8E786-FA6F-02A5-A155-3F0430F865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 err="1">
                <a:solidFill>
                  <a:schemeClr val="bg1">
                    <a:lumMod val="50000"/>
                  </a:schemeClr>
                </a:solidFill>
              </a:rPr>
              <a:t>Projet</a:t>
            </a:r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 4 - Data Analyst - Sophie KIM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A61EE29-303D-5714-5174-7BEF64464A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6080C-98AB-45C5-BE9B-B13311155E7A}" type="slidenum">
              <a:rPr lang="en-GB" smtClean="0"/>
              <a:t>2</a:t>
            </a:fld>
            <a:endParaRPr lang="en-GB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>
          <a:extLst>
            <a:ext uri="{FF2B5EF4-FFF2-40B4-BE49-F238E27FC236}">
              <a16:creationId xmlns:a16="http://schemas.microsoft.com/office/drawing/2014/main" id="{0C64726F-0754-DD0A-336B-574BA261B8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34A4D963-18C3-A8BD-4424-2D7DFA299FDE}"/>
              </a:ext>
            </a:extLst>
          </p:cNvPr>
          <p:cNvSpPr txBox="1"/>
          <p:nvPr/>
        </p:nvSpPr>
        <p:spPr>
          <a:xfrm>
            <a:off x="762000" y="477520"/>
            <a:ext cx="106984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dirty="0">
                <a:solidFill>
                  <a:srgbClr val="14C5BA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METHODOLOGIE DE L’ANALYSE</a:t>
            </a:r>
            <a:endParaRPr lang="en-GB" sz="3200" dirty="0">
              <a:solidFill>
                <a:srgbClr val="14C5BA"/>
              </a:solidFill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73F3E8A-1F23-427D-15A4-1D39FD4A4E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24/04/2025</a:t>
            </a:r>
            <a:endParaRPr lang="en-GB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EB6F09C-544D-665C-DBFE-CC47E5E943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 err="1">
                <a:solidFill>
                  <a:schemeClr val="bg1">
                    <a:lumMod val="50000"/>
                  </a:schemeClr>
                </a:solidFill>
              </a:rPr>
              <a:t>Projet</a:t>
            </a:r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 4 - Data Analyst - Sophie KIM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A7D76FC-3875-AB3E-504A-A9BC457016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6080C-98AB-45C5-BE9B-B13311155E7A}" type="slidenum">
              <a:rPr lang="en-GB" smtClean="0"/>
              <a:t>3</a:t>
            </a:fld>
            <a:endParaRPr lang="en-GB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0D965CDE-A00D-C7D4-359F-3818ADB4CF7C}"/>
              </a:ext>
            </a:extLst>
          </p:cNvPr>
          <p:cNvSpPr txBox="1"/>
          <p:nvPr/>
        </p:nvSpPr>
        <p:spPr>
          <a:xfrm>
            <a:off x="913774" y="5466080"/>
            <a:ext cx="897190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b="0" i="0" dirty="0">
                <a:solidFill>
                  <a:srgbClr val="14C5BA"/>
                </a:solidFill>
                <a:effectLst/>
                <a:latin typeface="Segoe UI Semilight" panose="020B0402040204020203" pitchFamily="34" charset="0"/>
                <a:cs typeface="Segoe UI Semilight" panose="020B0402040204020203" pitchFamily="34" charset="0"/>
              </a:rPr>
              <a:t>Crédit Image : </a:t>
            </a:r>
            <a:r>
              <a:rPr lang="fr-FR" sz="1600" b="0" i="0" u="sng" dirty="0" err="1">
                <a:solidFill>
                  <a:srgbClr val="14C5BA"/>
                </a:solidFill>
                <a:effectLst/>
                <a:latin typeface="Segoe UI Semilight" panose="020B0402040204020203" pitchFamily="34" charset="0"/>
                <a:cs typeface="Segoe UI Semilight" panose="020B0402040204020203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Shari</a:t>
            </a:r>
            <a:r>
              <a:rPr lang="fr-FR" sz="1600" b="0" i="0" u="sng" dirty="0">
                <a:solidFill>
                  <a:srgbClr val="14C5BA"/>
                </a:solidFill>
                <a:effectLst/>
                <a:latin typeface="Segoe UI Semilight" panose="020B0402040204020203" pitchFamily="34" charset="0"/>
                <a:cs typeface="Segoe UI Semilight" panose="020B0402040204020203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Jo</a:t>
            </a:r>
            <a:r>
              <a:rPr lang="fr-FR" sz="1600" b="0" i="0" dirty="0">
                <a:solidFill>
                  <a:srgbClr val="14C5BA"/>
                </a:solidFill>
                <a:effectLst/>
                <a:latin typeface="Segoe UI Semilight" panose="020B0402040204020203" pitchFamily="34" charset="0"/>
                <a:cs typeface="Segoe UI Semilight" panose="020B0402040204020203" pitchFamily="34" charset="0"/>
              </a:rPr>
              <a:t> de </a:t>
            </a:r>
            <a:r>
              <a:rPr lang="fr-FR" sz="1600" b="0" i="0" u="sng" dirty="0" err="1">
                <a:solidFill>
                  <a:srgbClr val="14C5BA"/>
                </a:solidFill>
                <a:effectLst/>
                <a:latin typeface="Segoe UI Semilight" panose="020B0402040204020203" pitchFamily="34" charset="0"/>
                <a:cs typeface="Segoe UI Semilight" panose="020B0402040204020203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Pixabay</a:t>
            </a:r>
            <a:endParaRPr lang="en-GB" sz="1600" dirty="0">
              <a:solidFill>
                <a:srgbClr val="14C5BA"/>
              </a:solidFill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27D4D8D9-2C9F-076E-5600-3EF74B815D5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7720" y="1247427"/>
            <a:ext cx="8067040" cy="4033520"/>
          </a:xfrm>
          <a:prstGeom prst="rect">
            <a:avLst/>
          </a:prstGeom>
          <a:solidFill>
            <a:schemeClr val="bg1"/>
          </a:solidFill>
        </p:spPr>
      </p:pic>
    </p:spTree>
    <p:extLst>
      <p:ext uri="{BB962C8B-B14F-4D97-AF65-F5344CB8AC3E}">
        <p14:creationId xmlns:p14="http://schemas.microsoft.com/office/powerpoint/2010/main" val="29288869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>
          <a:extLst>
            <a:ext uri="{FF2B5EF4-FFF2-40B4-BE49-F238E27FC236}">
              <a16:creationId xmlns:a16="http://schemas.microsoft.com/office/drawing/2014/main" id="{2F2FBC72-CF82-51B8-94C7-8651EF6187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63CC145A-0A57-EB7B-14FB-DD7141D590F1}"/>
              </a:ext>
            </a:extLst>
          </p:cNvPr>
          <p:cNvSpPr txBox="1"/>
          <p:nvPr/>
        </p:nvSpPr>
        <p:spPr>
          <a:xfrm>
            <a:off x="762000" y="477520"/>
            <a:ext cx="1069848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dirty="0">
                <a:solidFill>
                  <a:srgbClr val="14C5BA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1. PROPORTION DE PERSONNES EN ETAT DE SOUS-NUTRITION</a:t>
            </a:r>
            <a:endParaRPr lang="en-GB" sz="3200" dirty="0">
              <a:solidFill>
                <a:srgbClr val="14C5BA"/>
              </a:solidFill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AA809595-E429-CAE9-755F-7331983254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7006" y="1554738"/>
            <a:ext cx="5237987" cy="4138221"/>
          </a:xfrm>
          <a:prstGeom prst="rect">
            <a:avLst/>
          </a:prstGeom>
        </p:spPr>
      </p:pic>
      <p:sp>
        <p:nvSpPr>
          <p:cNvPr id="6" name="Espace réservé de la date 5">
            <a:extLst>
              <a:ext uri="{FF2B5EF4-FFF2-40B4-BE49-F238E27FC236}">
                <a16:creationId xmlns:a16="http://schemas.microsoft.com/office/drawing/2014/main" id="{0650BE34-7D22-93E2-C343-CA1C8336F2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24/04/2025</a:t>
            </a:r>
            <a:endParaRPr lang="en-GB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" name="Espace réservé du pied de page 6">
            <a:extLst>
              <a:ext uri="{FF2B5EF4-FFF2-40B4-BE49-F238E27FC236}">
                <a16:creationId xmlns:a16="http://schemas.microsoft.com/office/drawing/2014/main" id="{58991C92-9E7A-53E9-A70F-B3C8754BB9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 err="1">
                <a:solidFill>
                  <a:schemeClr val="bg1">
                    <a:lumMod val="50000"/>
                  </a:schemeClr>
                </a:solidFill>
              </a:rPr>
              <a:t>Projet</a:t>
            </a:r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 4 - Data Analyst - Sophie KIM</a:t>
            </a:r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F80E7BD7-E73A-E33E-8CBA-65E4866A9A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6080C-98AB-45C5-BE9B-B13311155E7A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172467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>
          <a:extLst>
            <a:ext uri="{FF2B5EF4-FFF2-40B4-BE49-F238E27FC236}">
              <a16:creationId xmlns:a16="http://schemas.microsoft.com/office/drawing/2014/main" id="{A0114A86-9D1F-0575-D2CF-D683DD2221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E28D3EBA-3718-7F12-2574-D31AB535730E}"/>
              </a:ext>
            </a:extLst>
          </p:cNvPr>
          <p:cNvSpPr txBox="1"/>
          <p:nvPr/>
        </p:nvSpPr>
        <p:spPr>
          <a:xfrm>
            <a:off x="762000" y="477520"/>
            <a:ext cx="1069848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dirty="0">
                <a:solidFill>
                  <a:srgbClr val="14C5BA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2. NOMBRE THEORIQUE DE PERSONNES QUI POURRAIENT ETRE NOURRIES EN 2017</a:t>
            </a:r>
            <a:endParaRPr lang="en-GB" sz="3200" dirty="0">
              <a:solidFill>
                <a:srgbClr val="14C5BA"/>
              </a:solidFill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187AC2EC-87F1-3966-48E8-C380DB3F0A84}"/>
              </a:ext>
            </a:extLst>
          </p:cNvPr>
          <p:cNvSpPr txBox="1"/>
          <p:nvPr/>
        </p:nvSpPr>
        <p:spPr>
          <a:xfrm>
            <a:off x="894080" y="2228671"/>
            <a:ext cx="10698480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5000" b="1" dirty="0">
                <a:solidFill>
                  <a:srgbClr val="14C5BA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110%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9681741-4234-3D34-BE6D-A3DD9AF7FA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24/04/2025</a:t>
            </a:r>
            <a:endParaRPr lang="en-GB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137B000-1F14-5C17-3ADF-0507242BE5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>
                <a:solidFill>
                  <a:schemeClr val="bg1">
                    <a:lumMod val="50000"/>
                  </a:schemeClr>
                </a:solidFill>
              </a:rPr>
              <a:t>Projet 4 - Data Analyst - Sophie KIM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BFCFCB1-0A07-08AC-83B3-55FA280E9B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6080C-98AB-45C5-BE9B-B13311155E7A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302219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>
          <a:extLst>
            <a:ext uri="{FF2B5EF4-FFF2-40B4-BE49-F238E27FC236}">
              <a16:creationId xmlns:a16="http://schemas.microsoft.com/office/drawing/2014/main" id="{993084C0-E182-0A6E-2676-2EF760B4B7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D88492A3-DD05-B0A2-69D9-5AA6881FDBB6}"/>
              </a:ext>
            </a:extLst>
          </p:cNvPr>
          <p:cNvSpPr txBox="1"/>
          <p:nvPr/>
        </p:nvSpPr>
        <p:spPr>
          <a:xfrm>
            <a:off x="762000" y="477520"/>
            <a:ext cx="1069848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dirty="0">
                <a:solidFill>
                  <a:srgbClr val="14C5BA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3. NOMBRE THEORIQUE DE PERSONNES QUI POURRAIENT ETRE NOURRIES UNIQUEMENT AVEC DES VEGETAUX EN 2017</a:t>
            </a:r>
            <a:endParaRPr lang="en-GB" sz="3200" dirty="0">
              <a:solidFill>
                <a:srgbClr val="14C5BA"/>
              </a:solidFill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A564AF0F-9F4D-0DFF-CFFB-363D499349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51957" y="1820434"/>
            <a:ext cx="6288085" cy="4041845"/>
          </a:xfrm>
          <a:prstGeom prst="rect">
            <a:avLst/>
          </a:prstGeom>
        </p:spPr>
      </p:pic>
      <p:sp>
        <p:nvSpPr>
          <p:cNvPr id="6" name="Espace réservé de la date 5">
            <a:extLst>
              <a:ext uri="{FF2B5EF4-FFF2-40B4-BE49-F238E27FC236}">
                <a16:creationId xmlns:a16="http://schemas.microsoft.com/office/drawing/2014/main" id="{849FA4CC-B379-4AAA-0A55-93A3D32EA8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24/04/2025</a:t>
            </a:r>
            <a:endParaRPr lang="en-GB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" name="Espace réservé du pied de page 6">
            <a:extLst>
              <a:ext uri="{FF2B5EF4-FFF2-40B4-BE49-F238E27FC236}">
                <a16:creationId xmlns:a16="http://schemas.microsoft.com/office/drawing/2014/main" id="{31B3A0BD-D1A6-C9B3-6634-4F18C9C91F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 err="1">
                <a:solidFill>
                  <a:schemeClr val="bg1">
                    <a:lumMod val="50000"/>
                  </a:schemeClr>
                </a:solidFill>
              </a:rPr>
              <a:t>Projet</a:t>
            </a:r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 4 - Data Analyst - Sophie KIM</a:t>
            </a:r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4A6B6347-6140-2F65-3C1F-0CB5784B89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6080C-98AB-45C5-BE9B-B13311155E7A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686895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>
          <a:extLst>
            <a:ext uri="{FF2B5EF4-FFF2-40B4-BE49-F238E27FC236}">
              <a16:creationId xmlns:a16="http://schemas.microsoft.com/office/drawing/2014/main" id="{356E1A0D-0503-321D-EA2F-C382B93C26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CCA14E68-48AB-6093-568E-92BE4E8677BE}"/>
              </a:ext>
            </a:extLst>
          </p:cNvPr>
          <p:cNvSpPr txBox="1"/>
          <p:nvPr/>
        </p:nvSpPr>
        <p:spPr>
          <a:xfrm>
            <a:off x="762000" y="477520"/>
            <a:ext cx="106984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dirty="0">
                <a:solidFill>
                  <a:srgbClr val="14C5BA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4. REPARTITION DE LA DISPONIBILITE INTERIEURE</a:t>
            </a:r>
            <a:endParaRPr lang="en-GB" sz="3200" dirty="0">
              <a:solidFill>
                <a:srgbClr val="14C5BA"/>
              </a:solidFill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226C7580-E319-17CE-377D-158B1BCE4D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27961" y="1463939"/>
            <a:ext cx="7136078" cy="4291290"/>
          </a:xfrm>
          <a:prstGeom prst="rect">
            <a:avLst/>
          </a:prstGeom>
        </p:spPr>
      </p:pic>
      <p:sp>
        <p:nvSpPr>
          <p:cNvPr id="6" name="Espace réservé de la date 5">
            <a:extLst>
              <a:ext uri="{FF2B5EF4-FFF2-40B4-BE49-F238E27FC236}">
                <a16:creationId xmlns:a16="http://schemas.microsoft.com/office/drawing/2014/main" id="{79EE33C0-5225-8B41-2311-1634572038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24/04/2025</a:t>
            </a:r>
            <a:endParaRPr lang="en-GB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" name="Espace réservé du pied de page 6">
            <a:extLst>
              <a:ext uri="{FF2B5EF4-FFF2-40B4-BE49-F238E27FC236}">
                <a16:creationId xmlns:a16="http://schemas.microsoft.com/office/drawing/2014/main" id="{5A939248-4384-98E8-1D0C-EA9CEC64C7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 err="1">
                <a:solidFill>
                  <a:schemeClr val="bg1">
                    <a:lumMod val="50000"/>
                  </a:schemeClr>
                </a:solidFill>
              </a:rPr>
              <a:t>Projet</a:t>
            </a:r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 4 - Data Analyst - Sophie KIM</a:t>
            </a:r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10264AEE-337C-6103-8ED1-9AA521AD37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6080C-98AB-45C5-BE9B-B13311155E7A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074318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>
          <a:extLst>
            <a:ext uri="{FF2B5EF4-FFF2-40B4-BE49-F238E27FC236}">
              <a16:creationId xmlns:a16="http://schemas.microsoft.com/office/drawing/2014/main" id="{093E5E18-2764-EC34-1F63-DF6DD39CC7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FF183FEB-DC47-71CA-8B05-55FACEDD3B93}"/>
              </a:ext>
            </a:extLst>
          </p:cNvPr>
          <p:cNvSpPr txBox="1"/>
          <p:nvPr/>
        </p:nvSpPr>
        <p:spPr>
          <a:xfrm>
            <a:off x="762000" y="477520"/>
            <a:ext cx="1069848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dirty="0">
                <a:solidFill>
                  <a:srgbClr val="14C5BA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5. PART DE L’UTILISATION DES PRINCIPALES CEREALES ENTRE L’ALIMENTATION HUMAINE ET ANIMALE</a:t>
            </a:r>
            <a:endParaRPr lang="en-GB" sz="3200" dirty="0">
              <a:solidFill>
                <a:srgbClr val="14C5BA"/>
              </a:solidFill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E20EC503-A8E6-C4B6-0F72-83F1DB9157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2992" y="1627341"/>
            <a:ext cx="5366016" cy="4183330"/>
          </a:xfrm>
          <a:prstGeom prst="rect">
            <a:avLst/>
          </a:prstGeom>
        </p:spPr>
      </p:pic>
      <p:sp>
        <p:nvSpPr>
          <p:cNvPr id="6" name="Espace réservé de la date 5">
            <a:extLst>
              <a:ext uri="{FF2B5EF4-FFF2-40B4-BE49-F238E27FC236}">
                <a16:creationId xmlns:a16="http://schemas.microsoft.com/office/drawing/2014/main" id="{31966170-EE6B-578E-0009-337BD943F6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24/04/2025</a:t>
            </a:r>
            <a:endParaRPr lang="en-GB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" name="Espace réservé du pied de page 6">
            <a:extLst>
              <a:ext uri="{FF2B5EF4-FFF2-40B4-BE49-F238E27FC236}">
                <a16:creationId xmlns:a16="http://schemas.microsoft.com/office/drawing/2014/main" id="{05C8FE99-3299-7DAB-569D-BFA093F3F5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 err="1">
                <a:solidFill>
                  <a:schemeClr val="bg1">
                    <a:lumMod val="50000"/>
                  </a:schemeClr>
                </a:solidFill>
              </a:rPr>
              <a:t>Projet</a:t>
            </a:r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 4 - Data Analyst - Sophie KIM</a:t>
            </a:r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EF8016FE-9084-F5CB-4AFE-036DC7CEEA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6080C-98AB-45C5-BE9B-B13311155E7A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201317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>
          <a:extLst>
            <a:ext uri="{FF2B5EF4-FFF2-40B4-BE49-F238E27FC236}">
              <a16:creationId xmlns:a16="http://schemas.microsoft.com/office/drawing/2014/main" id="{0DD9C6A0-F7E9-2F3D-2633-A223F5DA93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6BFB952D-1E02-F454-EA44-DEA1F7B3A94C}"/>
              </a:ext>
            </a:extLst>
          </p:cNvPr>
          <p:cNvSpPr txBox="1"/>
          <p:nvPr/>
        </p:nvSpPr>
        <p:spPr>
          <a:xfrm>
            <a:off x="762000" y="477520"/>
            <a:ext cx="1069848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dirty="0">
                <a:solidFill>
                  <a:srgbClr val="14C5BA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6. LISTE DES 10 PAYS OU LA PROPORTION DE PERSONNES EN ETAT DE SOUS-NUTRITION EST LA PLUS FORTE EN 2017</a:t>
            </a:r>
            <a:endParaRPr lang="en-GB" sz="3200" dirty="0">
              <a:solidFill>
                <a:srgbClr val="14C5BA"/>
              </a:solidFill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B938D569-E798-C441-2DBC-146F64D733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64688" y="1828800"/>
            <a:ext cx="6493104" cy="3983009"/>
          </a:xfrm>
          <a:prstGeom prst="rect">
            <a:avLst/>
          </a:prstGeom>
        </p:spPr>
      </p:pic>
      <p:sp>
        <p:nvSpPr>
          <p:cNvPr id="6" name="Espace réservé de la date 5">
            <a:extLst>
              <a:ext uri="{FF2B5EF4-FFF2-40B4-BE49-F238E27FC236}">
                <a16:creationId xmlns:a16="http://schemas.microsoft.com/office/drawing/2014/main" id="{3DDF4CB8-396C-D56C-6255-B51BB9C30B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24/04/2025</a:t>
            </a:r>
            <a:endParaRPr lang="en-GB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" name="Espace réservé du pied de page 6">
            <a:extLst>
              <a:ext uri="{FF2B5EF4-FFF2-40B4-BE49-F238E27FC236}">
                <a16:creationId xmlns:a16="http://schemas.microsoft.com/office/drawing/2014/main" id="{3163B3C5-7A84-3840-0F7A-C6C9318FAE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 err="1">
                <a:solidFill>
                  <a:schemeClr val="bg1">
                    <a:lumMod val="50000"/>
                  </a:schemeClr>
                </a:solidFill>
              </a:rPr>
              <a:t>Projet</a:t>
            </a:r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 4 - Data Analyst - Sophie KIM</a:t>
            </a:r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C1BDE05B-D211-28CA-E155-F6EE5F195C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6080C-98AB-45C5-BE9B-B13311155E7A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599356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>
          <a:extLst>
            <a:ext uri="{FF2B5EF4-FFF2-40B4-BE49-F238E27FC236}">
              <a16:creationId xmlns:a16="http://schemas.microsoft.com/office/drawing/2014/main" id="{6258926F-B53C-FCBD-DEA1-E415047183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22C8DEE3-7EEC-B1F6-A395-3EB943B76D46}"/>
              </a:ext>
            </a:extLst>
          </p:cNvPr>
          <p:cNvSpPr txBox="1"/>
          <p:nvPr/>
        </p:nvSpPr>
        <p:spPr>
          <a:xfrm>
            <a:off x="762000" y="477520"/>
            <a:ext cx="1069848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dirty="0">
                <a:solidFill>
                  <a:srgbClr val="14C5BA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7. LISTE DES PAYS QUI ONT LE PLUS BENEFICIE DE L’AIDE ALIMENTAIRE ENTRE 2013 ET 2016</a:t>
            </a:r>
            <a:endParaRPr lang="en-GB" sz="3200" dirty="0">
              <a:solidFill>
                <a:srgbClr val="14C5BA"/>
              </a:solidFill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</p:txBody>
      </p:sp>
      <p:grpSp>
        <p:nvGrpSpPr>
          <p:cNvPr id="6" name="Groupe 5">
            <a:extLst>
              <a:ext uri="{FF2B5EF4-FFF2-40B4-BE49-F238E27FC236}">
                <a16:creationId xmlns:a16="http://schemas.microsoft.com/office/drawing/2014/main" id="{3CBAB8CA-96D2-D873-BBC1-06F36215008B}"/>
              </a:ext>
            </a:extLst>
          </p:cNvPr>
          <p:cNvGrpSpPr/>
          <p:nvPr/>
        </p:nvGrpSpPr>
        <p:grpSpPr>
          <a:xfrm>
            <a:off x="3109890" y="2080783"/>
            <a:ext cx="6002699" cy="3802492"/>
            <a:chOff x="4270920" y="1876948"/>
            <a:chExt cx="6928889" cy="4233556"/>
          </a:xfrm>
          <a:solidFill>
            <a:srgbClr val="14C5BA"/>
          </a:solidFill>
        </p:grpSpPr>
        <p:sp>
          <p:nvSpPr>
            <p:cNvPr id="7" name="Forme libre : forme 6">
              <a:extLst>
                <a:ext uri="{FF2B5EF4-FFF2-40B4-BE49-F238E27FC236}">
                  <a16:creationId xmlns:a16="http://schemas.microsoft.com/office/drawing/2014/main" id="{D1050E36-8573-69EB-0FEA-549FD09A37D0}"/>
                </a:ext>
              </a:extLst>
            </p:cNvPr>
            <p:cNvSpPr/>
            <p:nvPr/>
          </p:nvSpPr>
          <p:spPr>
            <a:xfrm>
              <a:off x="4425054" y="2043927"/>
              <a:ext cx="6774755" cy="1156006"/>
            </a:xfrm>
            <a:custGeom>
              <a:avLst/>
              <a:gdLst>
                <a:gd name="connsiteX0" fmla="*/ 0 w 3699224"/>
                <a:gd name="connsiteY0" fmla="*/ 0 h 1156007"/>
                <a:gd name="connsiteX1" fmla="*/ 3699224 w 3699224"/>
                <a:gd name="connsiteY1" fmla="*/ 0 h 1156007"/>
                <a:gd name="connsiteX2" fmla="*/ 3699224 w 3699224"/>
                <a:gd name="connsiteY2" fmla="*/ 1156007 h 1156007"/>
                <a:gd name="connsiteX3" fmla="*/ 0 w 3699224"/>
                <a:gd name="connsiteY3" fmla="*/ 1156007 h 1156007"/>
                <a:gd name="connsiteX4" fmla="*/ 0 w 3699224"/>
                <a:gd name="connsiteY4" fmla="*/ 0 h 11560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99224" h="1156007">
                  <a:moveTo>
                    <a:pt x="0" y="0"/>
                  </a:moveTo>
                  <a:lnTo>
                    <a:pt x="3699224" y="0"/>
                  </a:lnTo>
                  <a:lnTo>
                    <a:pt x="3699224" y="1156007"/>
                  </a:lnTo>
                  <a:lnTo>
                    <a:pt x="0" y="115600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4C5BA"/>
            </a:solidFill>
            <a:ln>
              <a:solidFill>
                <a:srgbClr val="14C5BA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spcFirstLastPara="0" vert="horz" wrap="square" lIns="783002" tIns="133350" rIns="133350" bIns="133350" numCol="1" spcCol="1270" anchor="ctr" anchorCtr="0">
              <a:noAutofit/>
            </a:bodyPr>
            <a:lstStyle/>
            <a:p>
              <a:pPr marL="0" lvl="0" indent="0" algn="l" defTabSz="15557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fr-FR" sz="3200" kern="1200" dirty="0">
                  <a:solidFill>
                    <a:schemeClr val="bg1"/>
                  </a:solidFill>
                  <a:latin typeface="Segoe UI Semilight" panose="020B0402040204020203" pitchFamily="34" charset="0"/>
                  <a:cs typeface="Segoe UI Semilight" panose="020B0402040204020203" pitchFamily="34" charset="0"/>
                </a:rPr>
                <a:t>République arabe syrienne </a:t>
              </a:r>
            </a:p>
            <a:p>
              <a:pPr marL="0" lvl="0" indent="0" algn="l" defTabSz="15557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fr-FR" kern="1200" dirty="0">
                  <a:solidFill>
                    <a:schemeClr val="bg1"/>
                  </a:solidFill>
                  <a:latin typeface="Segoe UI Semilight" panose="020B0402040204020203" pitchFamily="34" charset="0"/>
                  <a:cs typeface="Segoe UI Semilight" panose="020B0402040204020203" pitchFamily="34" charset="0"/>
                </a:rPr>
                <a:t>(1,9 millions de tonnes)</a:t>
              </a:r>
              <a:endParaRPr lang="en-GB" kern="1200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7A54DE86-EB62-1B74-FEC5-47B7D0A7D31C}"/>
                </a:ext>
              </a:extLst>
            </p:cNvPr>
            <p:cNvSpPr/>
            <p:nvPr/>
          </p:nvSpPr>
          <p:spPr>
            <a:xfrm>
              <a:off x="4270920" y="1876948"/>
              <a:ext cx="809205" cy="1213807"/>
            </a:xfrm>
            <a:prstGeom prst="rect">
              <a:avLst/>
            </a:prstGeom>
            <a:ln>
              <a:solidFill>
                <a:srgbClr val="14C5BA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/>
            <a:lstStyle/>
            <a:p>
              <a:pPr algn="ctr"/>
              <a:r>
                <a:rPr lang="fr-FR" sz="3200" b="1" dirty="0">
                  <a:solidFill>
                    <a:srgbClr val="14C5BA"/>
                  </a:solidFill>
                  <a:latin typeface="Segoe UI Semilight" panose="020B0402040204020203" pitchFamily="34" charset="0"/>
                  <a:cs typeface="Segoe UI Semilight" panose="020B0402040204020203" pitchFamily="34" charset="0"/>
                </a:rPr>
                <a:t>1</a:t>
              </a:r>
              <a:endParaRPr lang="en-GB" sz="3200" b="1" dirty="0">
                <a:solidFill>
                  <a:srgbClr val="14C5BA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endParaRPr>
            </a:p>
          </p:txBody>
        </p:sp>
        <p:sp>
          <p:nvSpPr>
            <p:cNvPr id="9" name="Forme libre : forme 8">
              <a:extLst>
                <a:ext uri="{FF2B5EF4-FFF2-40B4-BE49-F238E27FC236}">
                  <a16:creationId xmlns:a16="http://schemas.microsoft.com/office/drawing/2014/main" id="{09A5AA59-32EE-FAD2-702D-BDBDD32A299A}"/>
                </a:ext>
              </a:extLst>
            </p:cNvPr>
            <p:cNvSpPr/>
            <p:nvPr/>
          </p:nvSpPr>
          <p:spPr>
            <a:xfrm>
              <a:off x="4425055" y="3499212"/>
              <a:ext cx="6774754" cy="1156006"/>
            </a:xfrm>
            <a:custGeom>
              <a:avLst/>
              <a:gdLst>
                <a:gd name="connsiteX0" fmla="*/ 0 w 3699224"/>
                <a:gd name="connsiteY0" fmla="*/ 0 h 1156007"/>
                <a:gd name="connsiteX1" fmla="*/ 3699224 w 3699224"/>
                <a:gd name="connsiteY1" fmla="*/ 0 h 1156007"/>
                <a:gd name="connsiteX2" fmla="*/ 3699224 w 3699224"/>
                <a:gd name="connsiteY2" fmla="*/ 1156007 h 1156007"/>
                <a:gd name="connsiteX3" fmla="*/ 0 w 3699224"/>
                <a:gd name="connsiteY3" fmla="*/ 1156007 h 1156007"/>
                <a:gd name="connsiteX4" fmla="*/ 0 w 3699224"/>
                <a:gd name="connsiteY4" fmla="*/ 0 h 11560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99224" h="1156007">
                  <a:moveTo>
                    <a:pt x="0" y="0"/>
                  </a:moveTo>
                  <a:lnTo>
                    <a:pt x="3699224" y="0"/>
                  </a:lnTo>
                  <a:lnTo>
                    <a:pt x="3699224" y="1156007"/>
                  </a:lnTo>
                  <a:lnTo>
                    <a:pt x="0" y="115600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4C5BA"/>
            </a:solidFill>
            <a:ln>
              <a:solidFill>
                <a:srgbClr val="14C5BA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spcFirstLastPara="0" vert="horz" wrap="square" lIns="783002" tIns="133350" rIns="133350" bIns="133350" numCol="1" spcCol="1270" anchor="ctr" anchorCtr="0">
              <a:noAutofit/>
            </a:bodyPr>
            <a:lstStyle/>
            <a:p>
              <a:pPr marL="0" lvl="0" indent="0" algn="l" defTabSz="15557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fr-FR" sz="3200" kern="1200" dirty="0">
                  <a:solidFill>
                    <a:schemeClr val="bg1"/>
                  </a:solidFill>
                  <a:latin typeface="Segoe UI Semilight" panose="020B0402040204020203" pitchFamily="34" charset="0"/>
                  <a:cs typeface="Segoe UI Semilight" panose="020B0402040204020203" pitchFamily="34" charset="0"/>
                </a:rPr>
                <a:t>Ethiopie </a:t>
              </a:r>
            </a:p>
            <a:p>
              <a:pPr marL="0" lvl="0" indent="0" algn="l" defTabSz="15557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fr-FR" kern="1200" dirty="0">
                  <a:solidFill>
                    <a:schemeClr val="bg1"/>
                  </a:solidFill>
                  <a:latin typeface="Segoe UI Semilight" panose="020B0402040204020203" pitchFamily="34" charset="0"/>
                  <a:cs typeface="Segoe UI Semilight" panose="020B0402040204020203" pitchFamily="34" charset="0"/>
                </a:rPr>
                <a:t>(1,4 millions de tonnes) </a:t>
              </a:r>
              <a:endParaRPr lang="en-GB" kern="1200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120DC9EC-268B-D7D3-F7CC-726E9822F6FA}"/>
                </a:ext>
              </a:extLst>
            </p:cNvPr>
            <p:cNvSpPr/>
            <p:nvPr/>
          </p:nvSpPr>
          <p:spPr>
            <a:xfrm>
              <a:off x="4270920" y="3332233"/>
              <a:ext cx="809205" cy="1213807"/>
            </a:xfrm>
            <a:prstGeom prst="rect">
              <a:avLst/>
            </a:prstGeom>
            <a:ln>
              <a:solidFill>
                <a:srgbClr val="14C5BA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/>
            <a:lstStyle/>
            <a:p>
              <a:pPr algn="ctr"/>
              <a:r>
                <a:rPr lang="fr-FR" sz="3200" b="1" dirty="0">
                  <a:solidFill>
                    <a:srgbClr val="14C5BA"/>
                  </a:solidFill>
                  <a:latin typeface="Segoe UI Semilight" panose="020B0402040204020203" pitchFamily="34" charset="0"/>
                  <a:cs typeface="Segoe UI Semilight" panose="020B0402040204020203" pitchFamily="34" charset="0"/>
                </a:rPr>
                <a:t>2</a:t>
              </a:r>
              <a:endParaRPr lang="en-GB" sz="3200" b="1" dirty="0">
                <a:solidFill>
                  <a:srgbClr val="14C5BA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endParaRPr>
            </a:p>
          </p:txBody>
        </p:sp>
        <p:sp>
          <p:nvSpPr>
            <p:cNvPr id="11" name="Forme libre : forme 10">
              <a:extLst>
                <a:ext uri="{FF2B5EF4-FFF2-40B4-BE49-F238E27FC236}">
                  <a16:creationId xmlns:a16="http://schemas.microsoft.com/office/drawing/2014/main" id="{14C4A77F-D3A8-6C68-38E1-FB099CC9DBE4}"/>
                </a:ext>
              </a:extLst>
            </p:cNvPr>
            <p:cNvSpPr/>
            <p:nvPr/>
          </p:nvSpPr>
          <p:spPr>
            <a:xfrm>
              <a:off x="4425054" y="4954498"/>
              <a:ext cx="6774754" cy="1156006"/>
            </a:xfrm>
            <a:custGeom>
              <a:avLst/>
              <a:gdLst>
                <a:gd name="connsiteX0" fmla="*/ 0 w 3699224"/>
                <a:gd name="connsiteY0" fmla="*/ 0 h 1156007"/>
                <a:gd name="connsiteX1" fmla="*/ 3699224 w 3699224"/>
                <a:gd name="connsiteY1" fmla="*/ 0 h 1156007"/>
                <a:gd name="connsiteX2" fmla="*/ 3699224 w 3699224"/>
                <a:gd name="connsiteY2" fmla="*/ 1156007 h 1156007"/>
                <a:gd name="connsiteX3" fmla="*/ 0 w 3699224"/>
                <a:gd name="connsiteY3" fmla="*/ 1156007 h 1156007"/>
                <a:gd name="connsiteX4" fmla="*/ 0 w 3699224"/>
                <a:gd name="connsiteY4" fmla="*/ 0 h 11560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99224" h="1156007">
                  <a:moveTo>
                    <a:pt x="0" y="0"/>
                  </a:moveTo>
                  <a:lnTo>
                    <a:pt x="3699224" y="0"/>
                  </a:lnTo>
                  <a:lnTo>
                    <a:pt x="3699224" y="1156007"/>
                  </a:lnTo>
                  <a:lnTo>
                    <a:pt x="0" y="115600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4C5BA"/>
            </a:solidFill>
            <a:ln>
              <a:solidFill>
                <a:srgbClr val="14C5BA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spcFirstLastPara="0" vert="horz" wrap="square" lIns="783002" tIns="133350" rIns="133350" bIns="133350" numCol="1" spcCol="1270" anchor="ctr" anchorCtr="0">
              <a:noAutofit/>
            </a:bodyPr>
            <a:lstStyle/>
            <a:p>
              <a:pPr marL="0" lvl="0" indent="0" algn="l" defTabSz="15557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fr-FR" sz="3200" kern="1200" dirty="0">
                  <a:solidFill>
                    <a:schemeClr val="bg1"/>
                  </a:solidFill>
                  <a:latin typeface="Segoe UI Semilight" panose="020B0402040204020203" pitchFamily="34" charset="0"/>
                  <a:cs typeface="Segoe UI Semilight" panose="020B0402040204020203" pitchFamily="34" charset="0"/>
                </a:rPr>
                <a:t>Yémen </a:t>
              </a:r>
            </a:p>
            <a:p>
              <a:pPr marL="0" lvl="0" indent="0" algn="l" defTabSz="15557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GB" kern="1200" dirty="0">
                  <a:solidFill>
                    <a:schemeClr val="bg1"/>
                  </a:solidFill>
                  <a:latin typeface="Segoe UI Semilight" panose="020B0402040204020203" pitchFamily="34" charset="0"/>
                  <a:cs typeface="Segoe UI Semilight" panose="020B0402040204020203" pitchFamily="34" charset="0"/>
                </a:rPr>
                <a:t>(1,2 millions de tonnes)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3146F626-A51F-814A-9BD8-4CD670598327}"/>
                </a:ext>
              </a:extLst>
            </p:cNvPr>
            <p:cNvSpPr/>
            <p:nvPr/>
          </p:nvSpPr>
          <p:spPr>
            <a:xfrm>
              <a:off x="4270920" y="4787518"/>
              <a:ext cx="809205" cy="1213807"/>
            </a:xfrm>
            <a:prstGeom prst="rect">
              <a:avLst/>
            </a:prstGeom>
            <a:ln>
              <a:solidFill>
                <a:srgbClr val="14C5BA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/>
            <a:lstStyle/>
            <a:p>
              <a:pPr algn="ctr"/>
              <a:r>
                <a:rPr lang="fr-FR" sz="3200" b="1" dirty="0">
                  <a:solidFill>
                    <a:srgbClr val="14C5BA"/>
                  </a:solidFill>
                  <a:latin typeface="Segoe UI Semilight" panose="020B0402040204020203" pitchFamily="34" charset="0"/>
                  <a:cs typeface="Segoe UI Semilight" panose="020B0402040204020203" pitchFamily="34" charset="0"/>
                </a:rPr>
                <a:t>3</a:t>
              </a:r>
              <a:endParaRPr lang="en-GB" sz="3200" b="1" dirty="0">
                <a:solidFill>
                  <a:srgbClr val="14C5BA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endParaRPr>
            </a:p>
          </p:txBody>
        </p:sp>
      </p:grpSp>
      <p:sp>
        <p:nvSpPr>
          <p:cNvPr id="13" name="Espace réservé de la date 12">
            <a:extLst>
              <a:ext uri="{FF2B5EF4-FFF2-40B4-BE49-F238E27FC236}">
                <a16:creationId xmlns:a16="http://schemas.microsoft.com/office/drawing/2014/main" id="{03ED3460-DBE2-EEBD-96DC-1FBF96D0AA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24/04/2025</a:t>
            </a:r>
            <a:endParaRPr lang="en-GB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4" name="Espace réservé du pied de page 13">
            <a:extLst>
              <a:ext uri="{FF2B5EF4-FFF2-40B4-BE49-F238E27FC236}">
                <a16:creationId xmlns:a16="http://schemas.microsoft.com/office/drawing/2014/main" id="{D9EA691F-20D8-7F60-311C-F8B1D6C2AA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>
                <a:solidFill>
                  <a:schemeClr val="bg1">
                    <a:lumMod val="50000"/>
                  </a:schemeClr>
                </a:solidFill>
              </a:rPr>
              <a:t>Projet 4 - Data Analyst - Sophie KIM</a:t>
            </a:r>
          </a:p>
        </p:txBody>
      </p:sp>
      <p:sp>
        <p:nvSpPr>
          <p:cNvPr id="15" name="Espace réservé du numéro de diapositive 14">
            <a:extLst>
              <a:ext uri="{FF2B5EF4-FFF2-40B4-BE49-F238E27FC236}">
                <a16:creationId xmlns:a16="http://schemas.microsoft.com/office/drawing/2014/main" id="{A6DEF434-36C6-22E7-E99B-117A0DBB14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6080C-98AB-45C5-BE9B-B13311155E7A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288626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>
          <a:extLst>
            <a:ext uri="{FF2B5EF4-FFF2-40B4-BE49-F238E27FC236}">
              <a16:creationId xmlns:a16="http://schemas.microsoft.com/office/drawing/2014/main" id="{910F654D-2F45-FACA-4F51-6E474E99B6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245A6998-1D70-E908-AF02-54F0ABEB7EEB}"/>
              </a:ext>
            </a:extLst>
          </p:cNvPr>
          <p:cNvSpPr txBox="1"/>
          <p:nvPr/>
        </p:nvSpPr>
        <p:spPr>
          <a:xfrm>
            <a:off x="762000" y="477520"/>
            <a:ext cx="1069848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dirty="0">
                <a:solidFill>
                  <a:srgbClr val="14C5BA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8. EVOLUTION DE L’AIDE ALIMENTAIRE POUR LES 5 PAYS QUI EN ONT LE PLUS BENEFICIE ENTRE 2013 ET 2016</a:t>
            </a:r>
            <a:endParaRPr lang="en-GB" sz="3200" dirty="0">
              <a:solidFill>
                <a:srgbClr val="14C5BA"/>
              </a:solidFill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859FDF3C-0B6C-E1EC-7520-FEC03B6BC6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59556" y="1775042"/>
            <a:ext cx="6672887" cy="4180693"/>
          </a:xfrm>
          <a:prstGeom prst="rect">
            <a:avLst/>
          </a:prstGeom>
        </p:spPr>
      </p:pic>
      <p:sp>
        <p:nvSpPr>
          <p:cNvPr id="6" name="Espace réservé de la date 5">
            <a:extLst>
              <a:ext uri="{FF2B5EF4-FFF2-40B4-BE49-F238E27FC236}">
                <a16:creationId xmlns:a16="http://schemas.microsoft.com/office/drawing/2014/main" id="{1D519ADB-9A7F-E5E9-23B7-1ED5D04144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24/04/2025</a:t>
            </a:r>
            <a:endParaRPr lang="en-GB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" name="Espace réservé du pied de page 6">
            <a:extLst>
              <a:ext uri="{FF2B5EF4-FFF2-40B4-BE49-F238E27FC236}">
                <a16:creationId xmlns:a16="http://schemas.microsoft.com/office/drawing/2014/main" id="{E4592844-2EDF-C5F3-A4A7-AFAD97A94D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 err="1">
                <a:solidFill>
                  <a:schemeClr val="bg1">
                    <a:lumMod val="50000"/>
                  </a:schemeClr>
                </a:solidFill>
              </a:rPr>
              <a:t>Projet</a:t>
            </a:r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 4 - Data Analyst - Sophie KIM</a:t>
            </a:r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190C3876-0D09-E87F-D79A-78B95A6B6A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6080C-98AB-45C5-BE9B-B13311155E7A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475570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>
          <a:extLst>
            <a:ext uri="{FF2B5EF4-FFF2-40B4-BE49-F238E27FC236}">
              <a16:creationId xmlns:a16="http://schemas.microsoft.com/office/drawing/2014/main" id="{047C1EA7-985D-D4F9-A22B-1631BEF4F3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E24A3A62-3EFA-0730-6D79-731A2E5AFBE8}"/>
              </a:ext>
            </a:extLst>
          </p:cNvPr>
          <p:cNvSpPr txBox="1"/>
          <p:nvPr/>
        </p:nvSpPr>
        <p:spPr>
          <a:xfrm>
            <a:off x="762000" y="477520"/>
            <a:ext cx="1069848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dirty="0">
                <a:solidFill>
                  <a:srgbClr val="14C5BA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9. LISTE DES PAYS QUI ONT LA PLUS FORTE DISPONIBILITE ALIMENTAIRE PAR HABITANT</a:t>
            </a:r>
            <a:endParaRPr lang="en-GB" sz="3200" dirty="0">
              <a:solidFill>
                <a:srgbClr val="14C5BA"/>
              </a:solidFill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5B152D0C-8929-FF07-E55E-E2B8D0401879}"/>
              </a:ext>
            </a:extLst>
          </p:cNvPr>
          <p:cNvSpPr txBox="1"/>
          <p:nvPr/>
        </p:nvSpPr>
        <p:spPr>
          <a:xfrm>
            <a:off x="746760" y="5585678"/>
            <a:ext cx="106984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i="0" dirty="0">
                <a:solidFill>
                  <a:srgbClr val="14C5BA"/>
                </a:solidFill>
                <a:effectLst/>
                <a:latin typeface="Segoe UI Semilight" panose="020B0402040204020203" pitchFamily="34" charset="0"/>
                <a:cs typeface="Segoe UI Semilight" panose="020B0402040204020203" pitchFamily="34" charset="0"/>
              </a:rPr>
              <a:t>Crédit Images : </a:t>
            </a:r>
            <a:r>
              <a:rPr lang="fr-FR" sz="1600" i="0" dirty="0" err="1">
                <a:solidFill>
                  <a:srgbClr val="14C5BA"/>
                </a:solidFill>
                <a:effectLst/>
                <a:latin typeface="Segoe UI Semilight" panose="020B0402040204020203" pitchFamily="34" charset="0"/>
                <a:cs typeface="Segoe UI Semilight" panose="020B0402040204020203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OpenClipart-Vectors</a:t>
            </a:r>
            <a:r>
              <a:rPr lang="fr-FR" sz="1600" i="0" dirty="0">
                <a:solidFill>
                  <a:srgbClr val="14C5BA"/>
                </a:solidFill>
                <a:effectLst/>
                <a:latin typeface="Segoe UI Semilight" panose="020B0402040204020203" pitchFamily="34" charset="0"/>
                <a:cs typeface="Segoe UI Semilight" panose="020B0402040204020203" pitchFamily="34" charset="0"/>
              </a:rPr>
              <a:t> de </a:t>
            </a:r>
            <a:r>
              <a:rPr lang="fr-FR" sz="1600" i="0" dirty="0" err="1">
                <a:solidFill>
                  <a:srgbClr val="14C5BA"/>
                </a:solidFill>
                <a:effectLst/>
                <a:latin typeface="Segoe UI Semilight" panose="020B0402040204020203" pitchFamily="34" charset="0"/>
                <a:cs typeface="Segoe UI Semilight" panose="020B0402040204020203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Pixabay</a:t>
            </a:r>
            <a:r>
              <a:rPr lang="fr-FR" sz="1600" i="0" dirty="0">
                <a:solidFill>
                  <a:srgbClr val="14C5BA"/>
                </a:solidFill>
                <a:effectLst/>
                <a:latin typeface="Segoe UI Semilight" panose="020B0402040204020203" pitchFamily="34" charset="0"/>
                <a:cs typeface="Segoe UI Semilight" panose="020B0402040204020203" pitchFamily="34" charset="0"/>
              </a:rPr>
              <a:t> et </a:t>
            </a:r>
            <a:r>
              <a:rPr lang="fr-FR" sz="1600" i="0" dirty="0">
                <a:solidFill>
                  <a:srgbClr val="14C5BA"/>
                </a:solidFill>
                <a:effectLst/>
                <a:latin typeface="Segoe UI Semilight" panose="020B0402040204020203" pitchFamily="34" charset="0"/>
                <a:cs typeface="Segoe UI Semilight" panose="020B0402040204020203" pitchFamily="34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Isa KARAKUS</a:t>
            </a:r>
            <a:r>
              <a:rPr lang="fr-FR" sz="1600" i="0" dirty="0">
                <a:solidFill>
                  <a:srgbClr val="14C5BA"/>
                </a:solidFill>
                <a:effectLst/>
                <a:latin typeface="Segoe UI Semilight" panose="020B0402040204020203" pitchFamily="34" charset="0"/>
                <a:cs typeface="Segoe UI Semilight" panose="020B0402040204020203" pitchFamily="34" charset="0"/>
              </a:rPr>
              <a:t> de </a:t>
            </a:r>
            <a:r>
              <a:rPr lang="fr-FR" sz="1600" i="0" dirty="0" err="1">
                <a:solidFill>
                  <a:srgbClr val="14C5BA"/>
                </a:solidFill>
                <a:effectLst/>
                <a:latin typeface="Segoe UI Semilight" panose="020B0402040204020203" pitchFamily="34" charset="0"/>
                <a:cs typeface="Segoe UI Semilight" panose="020B0402040204020203" pitchFamily="34" charset="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Pixabay</a:t>
            </a:r>
            <a:endParaRPr lang="en-GB" sz="1600" dirty="0">
              <a:solidFill>
                <a:srgbClr val="14C5BA"/>
              </a:solidFill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F10099CD-D041-5F07-2F91-15750F72686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920" y="2454021"/>
            <a:ext cx="2926080" cy="1949958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872DF31B-722B-0D77-A86C-53BA47C2EF2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8570" y="2454021"/>
            <a:ext cx="2926080" cy="1949958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31D4776B-0E4C-BEDB-4E70-0899610193F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39221" y="2454021"/>
            <a:ext cx="2926080" cy="1949958"/>
          </a:xfrm>
          <a:prstGeom prst="rect">
            <a:avLst/>
          </a:prstGeom>
        </p:spPr>
      </p:pic>
      <p:sp>
        <p:nvSpPr>
          <p:cNvPr id="10" name="Espace réservé de la date 9">
            <a:extLst>
              <a:ext uri="{FF2B5EF4-FFF2-40B4-BE49-F238E27FC236}">
                <a16:creationId xmlns:a16="http://schemas.microsoft.com/office/drawing/2014/main" id="{BD8989FC-2EDE-22A2-66A9-99698D4606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24/04/2025</a:t>
            </a:r>
            <a:endParaRPr lang="en-GB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1" name="Espace réservé du pied de page 10">
            <a:extLst>
              <a:ext uri="{FF2B5EF4-FFF2-40B4-BE49-F238E27FC236}">
                <a16:creationId xmlns:a16="http://schemas.microsoft.com/office/drawing/2014/main" id="{5C6801D0-BBDE-B547-4426-6765F2C78F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 err="1">
                <a:solidFill>
                  <a:schemeClr val="bg1">
                    <a:lumMod val="50000"/>
                  </a:schemeClr>
                </a:solidFill>
              </a:rPr>
              <a:t>Projet</a:t>
            </a:r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 4 - Data Analyst - Sophie KIM</a:t>
            </a:r>
          </a:p>
        </p:txBody>
      </p:sp>
      <p:sp>
        <p:nvSpPr>
          <p:cNvPr id="12" name="Espace réservé du numéro de diapositive 11">
            <a:extLst>
              <a:ext uri="{FF2B5EF4-FFF2-40B4-BE49-F238E27FC236}">
                <a16:creationId xmlns:a16="http://schemas.microsoft.com/office/drawing/2014/main" id="{CFC5613A-1BE0-7A4F-2F86-8A34FFF50F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6080C-98AB-45C5-BE9B-B13311155E7A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612510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>
          <a:extLst>
            <a:ext uri="{FF2B5EF4-FFF2-40B4-BE49-F238E27FC236}">
              <a16:creationId xmlns:a16="http://schemas.microsoft.com/office/drawing/2014/main" id="{7C6910E7-5D8F-EAC9-DFC1-7CBDFDC479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EFD44592-AB02-E1BB-25FA-3EB4C800F55B}"/>
              </a:ext>
            </a:extLst>
          </p:cNvPr>
          <p:cNvSpPr txBox="1"/>
          <p:nvPr/>
        </p:nvSpPr>
        <p:spPr>
          <a:xfrm>
            <a:off x="762000" y="477520"/>
            <a:ext cx="1069848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dirty="0">
                <a:solidFill>
                  <a:srgbClr val="14C5BA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10. LISTE DES 10 PAYS QUI ONT LA PLUS FAIBLE DISPONIBILITE ALIMENTAIRE PAR HABITANT</a:t>
            </a:r>
            <a:endParaRPr lang="en-GB" sz="3200" dirty="0">
              <a:solidFill>
                <a:srgbClr val="14C5BA"/>
              </a:solidFill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BC5023F3-31AD-071D-A703-09C1A3286D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9010" y="1945640"/>
            <a:ext cx="6693980" cy="3937635"/>
          </a:xfrm>
          <a:prstGeom prst="rect">
            <a:avLst/>
          </a:prstGeom>
        </p:spPr>
      </p:pic>
      <p:sp>
        <p:nvSpPr>
          <p:cNvPr id="8" name="Espace réservé de la date 7">
            <a:extLst>
              <a:ext uri="{FF2B5EF4-FFF2-40B4-BE49-F238E27FC236}">
                <a16:creationId xmlns:a16="http://schemas.microsoft.com/office/drawing/2014/main" id="{1D2FA589-5515-E500-E4E8-F31D51E472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>
                <a:solidFill>
                  <a:schemeClr val="bg1">
                    <a:lumMod val="50000"/>
                  </a:schemeClr>
                </a:solidFill>
              </a:rPr>
              <a:t>24/04/2025</a:t>
            </a:r>
            <a:endParaRPr lang="en-GB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9" name="Espace réservé du pied de page 8">
            <a:extLst>
              <a:ext uri="{FF2B5EF4-FFF2-40B4-BE49-F238E27FC236}">
                <a16:creationId xmlns:a16="http://schemas.microsoft.com/office/drawing/2014/main" id="{F6B519AD-DE0D-F315-2090-697BBC35A3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 err="1">
                <a:solidFill>
                  <a:schemeClr val="bg1">
                    <a:lumMod val="50000"/>
                  </a:schemeClr>
                </a:solidFill>
              </a:rPr>
              <a:t>Projet</a:t>
            </a:r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 4 - Data Analyst - Sophie KIM</a:t>
            </a:r>
          </a:p>
        </p:txBody>
      </p:sp>
      <p:sp>
        <p:nvSpPr>
          <p:cNvPr id="10" name="Espace réservé du numéro de diapositive 9">
            <a:extLst>
              <a:ext uri="{FF2B5EF4-FFF2-40B4-BE49-F238E27FC236}">
                <a16:creationId xmlns:a16="http://schemas.microsoft.com/office/drawing/2014/main" id="{1A9E4D85-67DA-76E6-67AB-F9CCA77EE5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6080C-98AB-45C5-BE9B-B13311155E7A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084013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>
          <a:extLst>
            <a:ext uri="{FF2B5EF4-FFF2-40B4-BE49-F238E27FC236}">
              <a16:creationId xmlns:a16="http://schemas.microsoft.com/office/drawing/2014/main" id="{1DE06505-E2BF-E517-902B-047C6752BA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6BD2BBC5-F760-B865-0583-BEFA0AD21482}"/>
              </a:ext>
            </a:extLst>
          </p:cNvPr>
          <p:cNvSpPr txBox="1"/>
          <p:nvPr/>
        </p:nvSpPr>
        <p:spPr>
          <a:xfrm>
            <a:off x="762000" y="477520"/>
            <a:ext cx="106984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dirty="0">
                <a:solidFill>
                  <a:srgbClr val="14C5BA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11. ETUDE SUR LE MANIOC EN THAILANDE</a:t>
            </a:r>
            <a:endParaRPr lang="en-GB" sz="3200" dirty="0">
              <a:solidFill>
                <a:srgbClr val="14C5BA"/>
              </a:solidFill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AAFBA600-E3FA-F7E6-37B4-11FADC504FD2}"/>
              </a:ext>
            </a:extLst>
          </p:cNvPr>
          <p:cNvSpPr txBox="1"/>
          <p:nvPr/>
        </p:nvSpPr>
        <p:spPr>
          <a:xfrm>
            <a:off x="1632915" y="2251930"/>
            <a:ext cx="478988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6000" b="1" dirty="0">
                <a:solidFill>
                  <a:srgbClr val="14C5BA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83,4%</a:t>
            </a:r>
            <a:r>
              <a:rPr lang="en-GB" sz="2800" dirty="0">
                <a:solidFill>
                  <a:srgbClr val="14C5BA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	</a:t>
            </a:r>
            <a:endParaRPr lang="en-GB" sz="4000" dirty="0">
              <a:solidFill>
                <a:srgbClr val="14C5BA"/>
              </a:solidFill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ADA4DD81-F670-5D75-D9F1-BD7127CBD2C6}"/>
              </a:ext>
            </a:extLst>
          </p:cNvPr>
          <p:cNvSpPr txBox="1"/>
          <p:nvPr/>
        </p:nvSpPr>
        <p:spPr>
          <a:xfrm>
            <a:off x="913774" y="5465057"/>
            <a:ext cx="67868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b="0" i="0" dirty="0">
                <a:solidFill>
                  <a:srgbClr val="14C5BA"/>
                </a:solidFill>
                <a:effectLst/>
                <a:latin typeface="Segoe UI Semilight" panose="020B0402040204020203" pitchFamily="34" charset="0"/>
                <a:cs typeface="Segoe UI Semilight" panose="020B0402040204020203" pitchFamily="34" charset="0"/>
              </a:rPr>
              <a:t>Crédit Image : Image par </a:t>
            </a:r>
            <a:r>
              <a:rPr lang="fr-FR" sz="1600" b="0" i="0" u="sng" dirty="0" err="1">
                <a:solidFill>
                  <a:srgbClr val="14C5BA"/>
                </a:solidFill>
                <a:effectLst/>
                <a:latin typeface="Segoe UI Semilight" panose="020B0402040204020203" pitchFamily="34" charset="0"/>
                <a:cs typeface="Segoe UI Semilight" panose="020B0402040204020203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Clker</a:t>
            </a:r>
            <a:r>
              <a:rPr lang="fr-FR" sz="1600" b="0" i="0" u="sng" dirty="0">
                <a:solidFill>
                  <a:srgbClr val="14C5BA"/>
                </a:solidFill>
                <a:effectLst/>
                <a:latin typeface="Segoe UI Semilight" panose="020B0402040204020203" pitchFamily="34" charset="0"/>
                <a:cs typeface="Segoe UI Semilight" panose="020B0402040204020203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-Free-</a:t>
            </a:r>
            <a:r>
              <a:rPr lang="fr-FR" sz="1600" b="0" i="0" u="sng" dirty="0" err="1">
                <a:solidFill>
                  <a:srgbClr val="14C5BA"/>
                </a:solidFill>
                <a:effectLst/>
                <a:latin typeface="Segoe UI Semilight" panose="020B0402040204020203" pitchFamily="34" charset="0"/>
                <a:cs typeface="Segoe UI Semilight" panose="020B0402040204020203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Vector</a:t>
            </a:r>
            <a:r>
              <a:rPr lang="fr-FR" sz="1600" b="0" i="0" u="sng" dirty="0">
                <a:solidFill>
                  <a:srgbClr val="14C5BA"/>
                </a:solidFill>
                <a:effectLst/>
                <a:latin typeface="Segoe UI Semilight" panose="020B0402040204020203" pitchFamily="34" charset="0"/>
                <a:cs typeface="Segoe UI Semilight" panose="020B0402040204020203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-Images</a:t>
            </a:r>
            <a:r>
              <a:rPr lang="fr-FR" sz="1600" b="0" i="0" dirty="0">
                <a:solidFill>
                  <a:srgbClr val="14C5BA"/>
                </a:solidFill>
                <a:effectLst/>
                <a:latin typeface="Segoe UI Semilight" panose="020B0402040204020203" pitchFamily="34" charset="0"/>
                <a:cs typeface="Segoe UI Semilight" panose="020B0402040204020203" pitchFamily="34" charset="0"/>
              </a:rPr>
              <a:t> de </a:t>
            </a:r>
            <a:r>
              <a:rPr lang="fr-FR" sz="1600" b="0" i="0" u="sng" dirty="0" err="1">
                <a:solidFill>
                  <a:srgbClr val="14C5BA"/>
                </a:solidFill>
                <a:effectLst/>
                <a:latin typeface="Segoe UI Semilight" panose="020B0402040204020203" pitchFamily="34" charset="0"/>
                <a:cs typeface="Segoe UI Semilight" panose="020B0402040204020203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Pixabay</a:t>
            </a:r>
            <a:endParaRPr lang="en-GB" sz="1600" dirty="0">
              <a:solidFill>
                <a:srgbClr val="14C5BA"/>
              </a:solidFill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EE9AFDF1-B3A3-D717-C902-E70FF052C7F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4834" y="1"/>
            <a:ext cx="4789884" cy="6858000"/>
          </a:xfrm>
          <a:prstGeom prst="rect">
            <a:avLst/>
          </a:prstGeom>
        </p:spPr>
      </p:pic>
      <p:sp>
        <p:nvSpPr>
          <p:cNvPr id="12" name="ZoneTexte 11">
            <a:extLst>
              <a:ext uri="{FF2B5EF4-FFF2-40B4-BE49-F238E27FC236}">
                <a16:creationId xmlns:a16="http://schemas.microsoft.com/office/drawing/2014/main" id="{11CC7F96-C877-C8EE-981F-096A4413A453}"/>
              </a:ext>
            </a:extLst>
          </p:cNvPr>
          <p:cNvSpPr txBox="1"/>
          <p:nvPr/>
        </p:nvSpPr>
        <p:spPr>
          <a:xfrm>
            <a:off x="1161579" y="3429036"/>
            <a:ext cx="57325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400" dirty="0">
                <a:solidFill>
                  <a:srgbClr val="14C5BA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PART DU MANIOC EXPORTÉ	</a:t>
            </a:r>
            <a:endParaRPr lang="en-GB" sz="4000" dirty="0">
              <a:solidFill>
                <a:srgbClr val="14C5BA"/>
              </a:solidFill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</p:txBody>
      </p:sp>
      <p:sp>
        <p:nvSpPr>
          <p:cNvPr id="13" name="Espace réservé de la date 12">
            <a:extLst>
              <a:ext uri="{FF2B5EF4-FFF2-40B4-BE49-F238E27FC236}">
                <a16:creationId xmlns:a16="http://schemas.microsoft.com/office/drawing/2014/main" id="{6C3FC2C5-FC6F-4A17-25BE-C0BC25E5E6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24/04/2025</a:t>
            </a:r>
            <a:endParaRPr lang="en-GB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4" name="Espace réservé du pied de page 13">
            <a:extLst>
              <a:ext uri="{FF2B5EF4-FFF2-40B4-BE49-F238E27FC236}">
                <a16:creationId xmlns:a16="http://schemas.microsoft.com/office/drawing/2014/main" id="{BE9EB957-111D-E6DE-084A-EEFE44C9C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>
                <a:solidFill>
                  <a:schemeClr val="bg1">
                    <a:lumMod val="50000"/>
                  </a:schemeClr>
                </a:solidFill>
              </a:rPr>
              <a:t>Projet 4 - Data Analyst - Sophie KIM</a:t>
            </a:r>
          </a:p>
        </p:txBody>
      </p:sp>
      <p:sp>
        <p:nvSpPr>
          <p:cNvPr id="15" name="Espace réservé du numéro de diapositive 14">
            <a:extLst>
              <a:ext uri="{FF2B5EF4-FFF2-40B4-BE49-F238E27FC236}">
                <a16:creationId xmlns:a16="http://schemas.microsoft.com/office/drawing/2014/main" id="{8FF644AD-B162-6BBB-81E7-0358C4186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6080C-98AB-45C5-BE9B-B13311155E7A}" type="slidenum">
              <a:rPr lang="en-GB" smtClean="0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180942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>
          <a:extLst>
            <a:ext uri="{FF2B5EF4-FFF2-40B4-BE49-F238E27FC236}">
              <a16:creationId xmlns:a16="http://schemas.microsoft.com/office/drawing/2014/main" id="{C70421BA-E6BA-805C-14FF-69DE393B95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A2DDF062-7AA0-8F46-E6B9-02D037F8B227}"/>
              </a:ext>
            </a:extLst>
          </p:cNvPr>
          <p:cNvSpPr txBox="1"/>
          <p:nvPr/>
        </p:nvSpPr>
        <p:spPr>
          <a:xfrm>
            <a:off x="762000" y="477520"/>
            <a:ext cx="106984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dirty="0">
                <a:solidFill>
                  <a:srgbClr val="14C5BA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12. ANALYSE COMPLEMENTAIRE (1/2)</a:t>
            </a:r>
            <a:endParaRPr lang="en-GB" sz="3200" dirty="0">
              <a:solidFill>
                <a:srgbClr val="14C5BA"/>
              </a:solidFill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FD8CE03-C6FC-3B0E-D8AB-6089F158A3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24/04/2025</a:t>
            </a:r>
            <a:endParaRPr lang="en-GB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D753FDC-B797-902C-FEF0-56997785AF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 err="1">
                <a:solidFill>
                  <a:schemeClr val="bg1">
                    <a:lumMod val="50000"/>
                  </a:schemeClr>
                </a:solidFill>
              </a:rPr>
              <a:t>Projet</a:t>
            </a:r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 4 - Data Analyst - Sophie KIM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C05E70B-0593-D695-0F4A-3F0B7E4AD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6080C-98AB-45C5-BE9B-B13311155E7A}" type="slidenum">
              <a:rPr lang="en-GB" smtClean="0"/>
              <a:t>15</a:t>
            </a:fld>
            <a:endParaRPr lang="en-GB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9376ABF8-31EB-03FA-72BD-9E0B56B8FB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8065" y="2169414"/>
            <a:ext cx="6395869" cy="3409826"/>
          </a:xfrm>
          <a:prstGeom prst="rect">
            <a:avLst/>
          </a:prstGeom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5B2361EA-2925-AADE-0FA2-2FD9128FC1AB}"/>
              </a:ext>
            </a:extLst>
          </p:cNvPr>
          <p:cNvSpPr txBox="1"/>
          <p:nvPr/>
        </p:nvSpPr>
        <p:spPr>
          <a:xfrm>
            <a:off x="1635187" y="1696102"/>
            <a:ext cx="887882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b="1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Répartition du Top 10 des produits avec le plus de taux de pertes en disponibilité intérieure</a:t>
            </a:r>
            <a:endParaRPr lang="en-GB" sz="1600" b="1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18456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>
          <a:extLst>
            <a:ext uri="{FF2B5EF4-FFF2-40B4-BE49-F238E27FC236}">
              <a16:creationId xmlns:a16="http://schemas.microsoft.com/office/drawing/2014/main" id="{0526E0C1-CC00-7A26-A2FF-FFF0A1915E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47B1EA6E-CF93-7040-48AA-9597B87362F4}"/>
              </a:ext>
            </a:extLst>
          </p:cNvPr>
          <p:cNvSpPr txBox="1"/>
          <p:nvPr/>
        </p:nvSpPr>
        <p:spPr>
          <a:xfrm>
            <a:off x="762000" y="477520"/>
            <a:ext cx="106984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dirty="0">
                <a:solidFill>
                  <a:srgbClr val="14C5BA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12. ANALYSE COMPLEMENTAIRE (2/2)</a:t>
            </a:r>
            <a:endParaRPr lang="en-GB" sz="3200" dirty="0">
              <a:solidFill>
                <a:srgbClr val="14C5BA"/>
              </a:solidFill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804B1D8-3E6C-5BA4-F766-7EE0BC0935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24/04/2025</a:t>
            </a:r>
            <a:endParaRPr lang="en-GB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F27EF1A-9083-30C4-8543-9379CC7BB6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 err="1">
                <a:solidFill>
                  <a:schemeClr val="bg1">
                    <a:lumMod val="50000"/>
                  </a:schemeClr>
                </a:solidFill>
              </a:rPr>
              <a:t>Projet</a:t>
            </a:r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 4 - Data Analyst - Sophie KIM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1C97E3A-EBE6-5D82-D700-FF2DA206F3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6080C-98AB-45C5-BE9B-B13311155E7A}" type="slidenum">
              <a:rPr lang="en-GB" smtClean="0"/>
              <a:t>16</a:t>
            </a:fld>
            <a:endParaRPr lang="en-GB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2F3249A3-EF8A-95E4-F374-60CD330572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08641" y="1561309"/>
            <a:ext cx="6374717" cy="4145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00229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>
          <a:extLst>
            <a:ext uri="{FF2B5EF4-FFF2-40B4-BE49-F238E27FC236}">
              <a16:creationId xmlns:a16="http://schemas.microsoft.com/office/drawing/2014/main" id="{1D42252C-B369-5980-8BAC-2FFA0AE659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 8">
            <a:extLst>
              <a:ext uri="{FF2B5EF4-FFF2-40B4-BE49-F238E27FC236}">
                <a16:creationId xmlns:a16="http://schemas.microsoft.com/office/drawing/2014/main" id="{0AFFD68F-3FFE-F3CC-6B1F-D9C19DA1639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0223" y="-1356709"/>
            <a:ext cx="12312445" cy="8214709"/>
          </a:xfrm>
          <a:prstGeom prst="rect">
            <a:avLst/>
          </a:prstGeom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CFFA64A3-74C5-A8E5-2558-A5529D23A0E2}"/>
              </a:ext>
            </a:extLst>
          </p:cNvPr>
          <p:cNvSpPr txBox="1"/>
          <p:nvPr/>
        </p:nvSpPr>
        <p:spPr>
          <a:xfrm>
            <a:off x="746759" y="2624260"/>
            <a:ext cx="1069848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5400" b="1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CONCLUSION</a:t>
            </a:r>
            <a:endParaRPr lang="en-GB" sz="5400" b="1" dirty="0">
              <a:solidFill>
                <a:schemeClr val="bg1"/>
              </a:solidFill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621D4A7-4CEE-FF5C-C511-8AF18D4A8D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24/04/2025</a:t>
            </a:r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FF21F54-1B56-7BBE-67A0-1A1F625009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 err="1">
                <a:solidFill>
                  <a:schemeClr val="bg1"/>
                </a:solidFill>
              </a:rPr>
              <a:t>Projet</a:t>
            </a:r>
            <a:r>
              <a:rPr lang="en-GB" dirty="0">
                <a:solidFill>
                  <a:schemeClr val="bg1"/>
                </a:solidFill>
              </a:rPr>
              <a:t> 4 - Data Analyst - Sophie KIM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FFDF0DC-017B-CD23-073E-5800A383A0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6080C-98AB-45C5-BE9B-B13311155E7A}" type="slidenum">
              <a:rPr lang="en-GB" smtClean="0">
                <a:solidFill>
                  <a:schemeClr val="bg1"/>
                </a:solidFill>
              </a:rPr>
              <a:t>17</a:t>
            </a:fld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C2239A16-7AFF-2B05-DC80-3922CBA6E34D}"/>
              </a:ext>
            </a:extLst>
          </p:cNvPr>
          <p:cNvSpPr txBox="1"/>
          <p:nvPr/>
        </p:nvSpPr>
        <p:spPr>
          <a:xfrm>
            <a:off x="913774" y="5513943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0" i="0" dirty="0">
                <a:solidFill>
                  <a:schemeClr val="bg1"/>
                </a:solidFill>
                <a:effectLst/>
                <a:latin typeface="Segoe UI Semilight" panose="020B0402040204020203" pitchFamily="34" charset="0"/>
                <a:cs typeface="Segoe UI Semilight" panose="020B0402040204020203" pitchFamily="34" charset="0"/>
              </a:rPr>
              <a:t>Crédit Image : Image par </a:t>
            </a:r>
            <a:r>
              <a:rPr lang="fr-FR" b="0" i="0" u="sng" dirty="0" err="1">
                <a:solidFill>
                  <a:schemeClr val="bg1"/>
                </a:solidFill>
                <a:effectLst/>
                <a:latin typeface="Segoe UI Semilight" panose="020B0402040204020203" pitchFamily="34" charset="0"/>
                <a:cs typeface="Segoe UI Semilight" panose="020B0402040204020203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tookapic</a:t>
            </a:r>
            <a:r>
              <a:rPr lang="fr-FR" b="0" i="0" dirty="0">
                <a:solidFill>
                  <a:schemeClr val="bg1"/>
                </a:solidFill>
                <a:effectLst/>
                <a:latin typeface="Segoe UI Semilight" panose="020B0402040204020203" pitchFamily="34" charset="0"/>
                <a:cs typeface="Segoe UI Semilight" panose="020B0402040204020203" pitchFamily="34" charset="0"/>
              </a:rPr>
              <a:t> de </a:t>
            </a:r>
            <a:r>
              <a:rPr lang="fr-FR" b="0" i="0" u="sng" dirty="0" err="1">
                <a:solidFill>
                  <a:schemeClr val="bg1"/>
                </a:solidFill>
                <a:effectLst/>
                <a:latin typeface="Segoe UI Semilight" panose="020B0402040204020203" pitchFamily="34" charset="0"/>
                <a:cs typeface="Segoe UI Semilight" panose="020B0402040204020203" pitchFamily="34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Pixabay</a:t>
            </a:r>
            <a:endParaRPr lang="en-GB" dirty="0">
              <a:solidFill>
                <a:schemeClr val="bg1"/>
              </a:solidFill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332321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>
          <a:extLst>
            <a:ext uri="{FF2B5EF4-FFF2-40B4-BE49-F238E27FC236}">
              <a16:creationId xmlns:a16="http://schemas.microsoft.com/office/drawing/2014/main" id="{E7BE495D-F647-99E0-A7AE-182F846405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">
            <a:extLst>
              <a:ext uri="{FF2B5EF4-FFF2-40B4-BE49-F238E27FC236}">
                <a16:creationId xmlns:a16="http://schemas.microsoft.com/office/drawing/2014/main" id="{BCE920E9-FF66-6485-D6BE-91AB15784719}"/>
              </a:ext>
            </a:extLst>
          </p:cNvPr>
          <p:cNvSpPr/>
          <p:nvPr/>
        </p:nvSpPr>
        <p:spPr>
          <a:xfrm>
            <a:off x="-650240" y="-447040"/>
            <a:ext cx="13257128" cy="7528560"/>
          </a:xfrm>
          <a:prstGeom prst="rect">
            <a:avLst/>
          </a:prstGeom>
          <a:solidFill>
            <a:srgbClr val="14C5B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ln cmpd="sng">
                <a:solidFill>
                  <a:srgbClr val="14C5BA"/>
                </a:solidFill>
              </a:ln>
              <a:solidFill>
                <a:schemeClr val="lt1"/>
              </a:solidFill>
              <a:effectLst>
                <a:glow rad="228600">
                  <a:schemeClr val="accent2">
                    <a:satMod val="175000"/>
                    <a:alpha val="40000"/>
                  </a:schemeClr>
                </a:glow>
                <a:innerShdw dist="1968500" dir="18900000">
                  <a:prstClr val="black">
                    <a:alpha val="1000"/>
                  </a:prstClr>
                </a:innerShdw>
                <a:reflection stA="0" endPos="65000" dist="50800" dir="5400000" sy="-100000" algn="bl" rotWithShape="0"/>
              </a:effectLst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BD04F130-E9E3-2A7B-AAB5-C4E40E76F455}"/>
              </a:ext>
            </a:extLst>
          </p:cNvPr>
          <p:cNvSpPr txBox="1"/>
          <p:nvPr/>
        </p:nvSpPr>
        <p:spPr>
          <a:xfrm>
            <a:off x="2778276" y="1224980"/>
            <a:ext cx="6635448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fr-FR" sz="6000" b="1" dirty="0">
              <a:solidFill>
                <a:schemeClr val="bg1"/>
              </a:solidFill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  <a:p>
            <a:pPr algn="ctr"/>
            <a:r>
              <a:rPr lang="fr-FR" sz="6000" b="1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MERCI</a:t>
            </a:r>
          </a:p>
          <a:p>
            <a:pPr algn="ctr"/>
            <a:endParaRPr lang="fr-FR" sz="6000" b="1" dirty="0">
              <a:solidFill>
                <a:schemeClr val="bg1"/>
              </a:solidFill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  <a:p>
            <a:pPr algn="ctr"/>
            <a:r>
              <a:rPr lang="fr-FR" sz="4000" b="1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Sophie KIM</a:t>
            </a:r>
          </a:p>
          <a:p>
            <a:pPr algn="ctr"/>
            <a:r>
              <a:rPr lang="fr-FR" sz="4000" b="1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Data </a:t>
            </a:r>
            <a:r>
              <a:rPr lang="fr-FR" sz="4000" b="1" dirty="0" err="1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Analyst</a:t>
            </a:r>
            <a:endParaRPr lang="en-GB" sz="4000" b="1" dirty="0">
              <a:solidFill>
                <a:schemeClr val="bg1"/>
              </a:solidFill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300EB108-9D15-92E0-D075-4070A3ADE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24/04/2025</a:t>
            </a:r>
            <a:endParaRPr lang="en-GB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A3489CE-4ED3-8275-E0EB-B35897CE86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 err="1">
                <a:solidFill>
                  <a:schemeClr val="bg1">
                    <a:lumMod val="50000"/>
                  </a:schemeClr>
                </a:solidFill>
              </a:rPr>
              <a:t>Projet</a:t>
            </a:r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 4 - Data Analyst - Sophie KIM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5F77B51C-DA7D-5FF4-2AFD-54EF9BED5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6080C-98AB-45C5-BE9B-B13311155E7A}" type="slidenum">
              <a:rPr lang="en-GB" smtClean="0"/>
              <a:t>18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75275483"/>
      </p:ext>
    </p:extLst>
  </p:cSld>
  <p:clrMapOvr>
    <a:masterClrMapping/>
  </p:clrMapOvr>
</p:sld>
</file>

<file path=ppt/theme/theme1.xml><?xml version="1.0" encoding="utf-8"?>
<a:theme xmlns:a="http://schemas.openxmlformats.org/drawingml/2006/main" name="Ronds dans l’eau">
  <a:themeElements>
    <a:clrScheme name="Ronds dans l’eau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Ronds dans l’eau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onds dans l’eau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TM04033925[[fn=Ronds dans l’eau]]</Template>
  <TotalTime>422</TotalTime>
  <Words>473</Words>
  <Application>Microsoft Office PowerPoint</Application>
  <PresentationFormat>Grand écran</PresentationFormat>
  <Paragraphs>104</Paragraphs>
  <Slides>18</Slides>
  <Notes>18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18</vt:i4>
      </vt:variant>
    </vt:vector>
  </HeadingPairs>
  <TitlesOfParts>
    <vt:vector size="25" baseType="lpstr">
      <vt:lpstr>Arial</vt:lpstr>
      <vt:lpstr>Calibri</vt:lpstr>
      <vt:lpstr>Century Gothic</vt:lpstr>
      <vt:lpstr>Segoe UI Semibold</vt:lpstr>
      <vt:lpstr>Segoe UI Semilight</vt:lpstr>
      <vt:lpstr>Tw Cen MT</vt:lpstr>
      <vt:lpstr>Ronds dans l’eau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SOPHIE KIM</dc:creator>
  <cp:lastModifiedBy>SOPHIE KIM</cp:lastModifiedBy>
  <cp:revision>14</cp:revision>
  <dcterms:created xsi:type="dcterms:W3CDTF">2025-04-21T15:30:31Z</dcterms:created>
  <dcterms:modified xsi:type="dcterms:W3CDTF">2025-04-22T22:31:44Z</dcterms:modified>
</cp:coreProperties>
</file>